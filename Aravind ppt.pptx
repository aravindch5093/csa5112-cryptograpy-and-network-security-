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leN5oeyh3UBZKGZWAIgnwHaEK" ContentType="image/jpe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95" r:id="rId3"/>
    <p:sldId id="297" r:id="rId4"/>
    <p:sldId id="298" r:id="rId5"/>
    <p:sldId id="299" r:id="rId6"/>
    <p:sldId id="300" r:id="rId7"/>
    <p:sldId id="275" r:id="rId8"/>
  </p:sldIdLst>
  <p:sldSz cx="18288000" cy="10287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889" autoAdjust="0"/>
    <p:restoredTop sz="94660"/>
  </p:normalViewPr>
  <p:slideViewPr>
    <p:cSldViewPr snapToGrid="0">
      <p:cViewPr varScale="1">
        <p:scale>
          <a:sx n="36" d="100"/>
          <a:sy n="36" d="100"/>
        </p:scale>
        <p:origin x="101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 panose="020F0502020204030204"/>
      </a:defRPr>
    </a:lvl1pPr>
    <a:lvl2pPr indent="228600" latinLnBrk="0">
      <a:defRPr sz="1200">
        <a:latin typeface="+mn-lt"/>
        <a:ea typeface="+mn-ea"/>
        <a:cs typeface="+mn-cs"/>
        <a:sym typeface="Calibri" panose="020F0502020204030204"/>
      </a:defRPr>
    </a:lvl2pPr>
    <a:lvl3pPr indent="457200" latinLnBrk="0">
      <a:defRPr sz="1200">
        <a:latin typeface="+mn-lt"/>
        <a:ea typeface="+mn-ea"/>
        <a:cs typeface="+mn-cs"/>
        <a:sym typeface="Calibri" panose="020F0502020204030204"/>
      </a:defRPr>
    </a:lvl3pPr>
    <a:lvl4pPr indent="685800" latinLnBrk="0">
      <a:defRPr sz="1200">
        <a:latin typeface="+mn-lt"/>
        <a:ea typeface="+mn-ea"/>
        <a:cs typeface="+mn-cs"/>
        <a:sym typeface="Calibri" panose="020F0502020204030204"/>
      </a:defRPr>
    </a:lvl4pPr>
    <a:lvl5pPr indent="914400" latinLnBrk="0">
      <a:defRPr sz="1200">
        <a:latin typeface="+mn-lt"/>
        <a:ea typeface="+mn-ea"/>
        <a:cs typeface="+mn-cs"/>
        <a:sym typeface="Calibri" panose="020F0502020204030204"/>
      </a:defRPr>
    </a:lvl5pPr>
    <a:lvl6pPr indent="1143000" latinLnBrk="0">
      <a:defRPr sz="1200">
        <a:latin typeface="+mn-lt"/>
        <a:ea typeface="+mn-ea"/>
        <a:cs typeface="+mn-cs"/>
        <a:sym typeface="Calibri" panose="020F0502020204030204"/>
      </a:defRPr>
    </a:lvl6pPr>
    <a:lvl7pPr indent="1371600" latinLnBrk="0">
      <a:defRPr sz="1200">
        <a:latin typeface="+mn-lt"/>
        <a:ea typeface="+mn-ea"/>
        <a:cs typeface="+mn-cs"/>
        <a:sym typeface="Calibri" panose="020F0502020204030204"/>
      </a:defRPr>
    </a:lvl7pPr>
    <a:lvl8pPr indent="1600200" latinLnBrk="0">
      <a:defRPr sz="1200">
        <a:latin typeface="+mn-lt"/>
        <a:ea typeface="+mn-ea"/>
        <a:cs typeface="+mn-cs"/>
        <a:sym typeface="Calibri" panose="020F0502020204030204"/>
      </a:defRPr>
    </a:lvl8pPr>
    <a:lvl9pPr indent="1828800" latinLnBrk="0">
      <a:defRPr sz="1200">
        <a:latin typeface="+mn-lt"/>
        <a:ea typeface="+mn-ea"/>
        <a:cs typeface="+mn-cs"/>
        <a:sym typeface="Calibri" panose="020F050202020403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53029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36E40-B480-F706-D37D-6B9B5A33F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FA1EE3-8D3D-F1FD-1A04-7BE97BBFC6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67FC69-2C5A-B455-6983-A315C4F98D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25186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ED694-1BF7-A8C5-1EE5-D6DB78788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20F7AF-2A4A-B968-DA49-E946838DD5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2ADC66-8F51-844B-E56B-EC0DADC1D1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76678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15DB6-37BC-CC3B-B792-D32D32A3F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CCF471-4F37-A3EA-6FCD-189FC41FAE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1FD666-FEBD-008B-DEDC-27FB5BC27C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47760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0D9D0-C8A6-76D5-F542-F62D37F0E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FE8506-167C-C536-3E2A-3C8F13F97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D4B1C5-7B08-FAAF-7BBB-7B1E7B2CD2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4802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40" indent="-320040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45720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91440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137160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182880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0057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914400" y="138112"/>
            <a:ext cx="16459200" cy="2262188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400300"/>
            <a:ext cx="16459200" cy="78867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783590" marR="0" indent="-32639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»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35661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4023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hyperlink" Target="https://svgsilh.com/image/28741.htm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WleN5oeyh3UBZKGZWAIgnwHaEK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jp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jp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Freeform 3"/>
          <p:cNvSpPr/>
          <p:nvPr/>
        </p:nvSpPr>
        <p:spPr>
          <a:xfrm>
            <a:off x="911529" y="2119922"/>
            <a:ext cx="15592730" cy="6366556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Freeform 6"/>
          <p:cNvSpPr/>
          <p:nvPr/>
        </p:nvSpPr>
        <p:spPr>
          <a:xfrm>
            <a:off x="15971645" y="287439"/>
            <a:ext cx="1702690" cy="2014348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Freeform 8"/>
          <p:cNvSpPr/>
          <p:nvPr/>
        </p:nvSpPr>
        <p:spPr>
          <a:xfrm>
            <a:off x="482079" y="306489"/>
            <a:ext cx="2280190" cy="201434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Freeform 10"/>
          <p:cNvSpPr/>
          <p:nvPr/>
        </p:nvSpPr>
        <p:spPr>
          <a:xfrm>
            <a:off x="3528989" y="225413"/>
            <a:ext cx="11656887" cy="2092739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TextBox 11"/>
          <p:cNvSpPr txBox="1"/>
          <p:nvPr/>
        </p:nvSpPr>
        <p:spPr>
          <a:xfrm>
            <a:off x="11117276" y="7618940"/>
            <a:ext cx="6259195" cy="2279015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noAutofit/>
          </a:bodyPr>
          <a:lstStyle/>
          <a:p>
            <a:pPr algn="just">
              <a:lnSpc>
                <a:spcPts val="4300"/>
              </a:lnSpc>
              <a:def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lnSpc>
                <a:spcPts val="4300"/>
              </a:lnSpc>
              <a:def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CH Aravind  (192325093)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42C6E0-7607-5651-FFBB-7B4B8FC62F69}"/>
              </a:ext>
            </a:extLst>
          </p:cNvPr>
          <p:cNvSpPr txBox="1"/>
          <p:nvPr/>
        </p:nvSpPr>
        <p:spPr>
          <a:xfrm>
            <a:off x="4572000" y="2322024"/>
            <a:ext cx="9144000" cy="106760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48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Presentation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AA776E-5B6D-F7FB-F65E-FFDA6E44F33D}"/>
              </a:ext>
            </a:extLst>
          </p:cNvPr>
          <p:cNvSpPr txBox="1"/>
          <p:nvPr/>
        </p:nvSpPr>
        <p:spPr>
          <a:xfrm>
            <a:off x="3341135" y="3727570"/>
            <a:ext cx="12804471" cy="137774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Cryptography and Information Security</a:t>
            </a:r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CSA5112 – Cryptography and Network Security 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A0269-5FA0-A6C1-B4DF-07E21ED09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Box 6">
            <a:extLst>
              <a:ext uri="{FF2B5EF4-FFF2-40B4-BE49-F238E27FC236}">
                <a16:creationId xmlns:a16="http://schemas.microsoft.com/office/drawing/2014/main" id="{D337C976-2E8E-E88E-0C96-8A5DACDB39D6}"/>
              </a:ext>
            </a:extLst>
          </p:cNvPr>
          <p:cNvSpPr txBox="1"/>
          <p:nvPr/>
        </p:nvSpPr>
        <p:spPr>
          <a:xfrm>
            <a:off x="532801" y="2266602"/>
            <a:ext cx="11733222" cy="2723410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noAutofit/>
          </a:bodyPr>
          <a:lstStyle/>
          <a:p>
            <a:pPr marL="469900" marR="5080" indent="-457200" algn="just">
              <a:lnSpc>
                <a:spcPct val="150000"/>
              </a:lnSpc>
              <a:spcBef>
                <a:spcPts val="100"/>
              </a:spcBef>
              <a:buFont typeface="Wingdings" panose="05000000000000000000" pitchFamily="2" charset="2"/>
              <a:buChar char="ü"/>
              <a:tabLst>
                <a:tab pos="298450" algn="l"/>
                <a:tab pos="1240790" algn="l"/>
                <a:tab pos="2498725" algn="l"/>
                <a:tab pos="4231005" algn="l"/>
                <a:tab pos="5309235" algn="l"/>
                <a:tab pos="7177405" algn="l"/>
                <a:tab pos="8345805" algn="l"/>
                <a:tab pos="10213340" algn="l"/>
                <a:tab pos="10681970" algn="l"/>
                <a:tab pos="11918315" algn="l"/>
                <a:tab pos="13786485" algn="l"/>
                <a:tab pos="14389735" algn="l"/>
              </a:tabLst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Security (InfoSec) protects data from unauthorized access, modification, disclosure, or destruction. </a:t>
            </a:r>
          </a:p>
          <a:p>
            <a:pPr marL="469900" marR="5080" indent="-457200" algn="just">
              <a:lnSpc>
                <a:spcPct val="150000"/>
              </a:lnSpc>
              <a:spcBef>
                <a:spcPts val="100"/>
              </a:spcBef>
              <a:buFont typeface="Wingdings" panose="05000000000000000000" pitchFamily="2" charset="2"/>
              <a:buChar char="ü"/>
              <a:tabLst>
                <a:tab pos="298450" algn="l"/>
                <a:tab pos="1240790" algn="l"/>
                <a:tab pos="2498725" algn="l"/>
                <a:tab pos="4231005" algn="l"/>
                <a:tab pos="5309235" algn="l"/>
                <a:tab pos="7177405" algn="l"/>
                <a:tab pos="8345805" algn="l"/>
                <a:tab pos="10213340" algn="l"/>
                <a:tab pos="10681970" algn="l"/>
                <a:tab pos="11918315" algn="l"/>
                <a:tab pos="13786485" algn="l"/>
                <a:tab pos="14389735" algn="l"/>
              </a:tabLst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ensures data remains confidential, accurate, and available. </a:t>
            </a:r>
          </a:p>
          <a:p>
            <a:pPr marL="469900" marR="5080" indent="-457200" algn="just">
              <a:lnSpc>
                <a:spcPct val="150000"/>
              </a:lnSpc>
              <a:spcBef>
                <a:spcPts val="100"/>
              </a:spcBef>
              <a:buFont typeface="Wingdings" panose="05000000000000000000" pitchFamily="2" charset="2"/>
              <a:buChar char="ü"/>
              <a:tabLst>
                <a:tab pos="298450" algn="l"/>
                <a:tab pos="1240790" algn="l"/>
                <a:tab pos="2498725" algn="l"/>
                <a:tab pos="4231005" algn="l"/>
                <a:tab pos="5309235" algn="l"/>
                <a:tab pos="7177405" algn="l"/>
                <a:tab pos="8345805" algn="l"/>
                <a:tab pos="10213340" algn="l"/>
                <a:tab pos="10681970" algn="l"/>
                <a:tab pos="11918315" algn="l"/>
                <a:tab pos="13786485" algn="l"/>
                <a:tab pos="14389735" algn="l"/>
              </a:tabLst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essential for protecting personal, business, and government information.</a:t>
            </a:r>
            <a:endParaRPr lang="en-US" altLang="en-US" sz="2800" spc="-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Freeform 7">
            <a:extLst>
              <a:ext uri="{FF2B5EF4-FFF2-40B4-BE49-F238E27FC236}">
                <a16:creationId xmlns:a16="http://schemas.microsoft.com/office/drawing/2014/main" id="{A4089B77-C93E-D4E0-6075-92CEA751FB9C}"/>
              </a:ext>
            </a:extLst>
          </p:cNvPr>
          <p:cNvSpPr/>
          <p:nvPr/>
        </p:nvSpPr>
        <p:spPr>
          <a:xfrm>
            <a:off x="15780629" y="209890"/>
            <a:ext cx="1974570" cy="201432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8" name="Freeform 8">
            <a:extLst>
              <a:ext uri="{FF2B5EF4-FFF2-40B4-BE49-F238E27FC236}">
                <a16:creationId xmlns:a16="http://schemas.microsoft.com/office/drawing/2014/main" id="{E43AC0BC-219E-E424-4570-F699724630AE}"/>
              </a:ext>
            </a:extLst>
          </p:cNvPr>
          <p:cNvSpPr/>
          <p:nvPr/>
        </p:nvSpPr>
        <p:spPr>
          <a:xfrm>
            <a:off x="213990" y="209890"/>
            <a:ext cx="1750456" cy="2014328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3FC8C66-9EEA-4553-F49B-B0676EF7C7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12430125" y="2295699"/>
            <a:ext cx="5145023" cy="69045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0209236-6DE8-C29D-36C1-D3D7F4668358}"/>
              </a:ext>
            </a:extLst>
          </p:cNvPr>
          <p:cNvSpPr txBox="1"/>
          <p:nvPr/>
        </p:nvSpPr>
        <p:spPr>
          <a:xfrm>
            <a:off x="4232366" y="632338"/>
            <a:ext cx="11548263" cy="769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Cryptography and Information Security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9BE151-F40F-169E-F70B-D4E030B687E1}"/>
              </a:ext>
            </a:extLst>
          </p:cNvPr>
          <p:cNvSpPr txBox="1"/>
          <p:nvPr/>
        </p:nvSpPr>
        <p:spPr>
          <a:xfrm>
            <a:off x="532801" y="5143500"/>
            <a:ext cx="9144000" cy="278486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is it Important?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Protects sensitive personal and financial information.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cyber attacks and data breaches.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Builds trust in digital communication and online services.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5BAAD4-E535-F6D5-11A9-BA3C4B654661}"/>
              </a:ext>
            </a:extLst>
          </p:cNvPr>
          <p:cNvSpPr txBox="1"/>
          <p:nvPr/>
        </p:nvSpPr>
        <p:spPr>
          <a:xfrm>
            <a:off x="1839087" y="8290858"/>
            <a:ext cx="7837714" cy="156965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Examples: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🏦 Online Banking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💬 WhatsApp Messaging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☁ Cloud Storage</a:t>
            </a:r>
            <a:endParaRPr kumimoji="0" lang="en-IN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300841958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29EAD-F393-589C-D116-8DEE30779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Freeform 7">
            <a:extLst>
              <a:ext uri="{FF2B5EF4-FFF2-40B4-BE49-F238E27FC236}">
                <a16:creationId xmlns:a16="http://schemas.microsoft.com/office/drawing/2014/main" id="{4BC1FB4C-EC0B-F486-733A-FEB502F71E7D}"/>
              </a:ext>
            </a:extLst>
          </p:cNvPr>
          <p:cNvSpPr/>
          <p:nvPr/>
        </p:nvSpPr>
        <p:spPr>
          <a:xfrm>
            <a:off x="15780629" y="209890"/>
            <a:ext cx="1974570" cy="201432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8" name="Freeform 8">
            <a:extLst>
              <a:ext uri="{FF2B5EF4-FFF2-40B4-BE49-F238E27FC236}">
                <a16:creationId xmlns:a16="http://schemas.microsoft.com/office/drawing/2014/main" id="{984B0D7B-A807-CE24-E5C3-C462EE73C60C}"/>
              </a:ext>
            </a:extLst>
          </p:cNvPr>
          <p:cNvSpPr/>
          <p:nvPr/>
        </p:nvSpPr>
        <p:spPr>
          <a:xfrm>
            <a:off x="213990" y="209890"/>
            <a:ext cx="1750456" cy="2014328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3A7437-0B2C-A73D-CD07-FA371B84BBF2}"/>
              </a:ext>
            </a:extLst>
          </p:cNvPr>
          <p:cNvSpPr txBox="1"/>
          <p:nvPr/>
        </p:nvSpPr>
        <p:spPr>
          <a:xfrm>
            <a:off x="5972174" y="632338"/>
            <a:ext cx="7769952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sz="5400" b="1" dirty="0">
                <a:solidFill>
                  <a:srgbClr val="FF0000"/>
                </a:solidFill>
              </a:rPr>
              <a:t>Security Goals (CIA Triad)</a:t>
            </a:r>
            <a:endParaRPr lang="en-IN" sz="5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FF0EDA-A7C5-7ACC-8CE6-E3D804B94BE0}"/>
              </a:ext>
            </a:extLst>
          </p:cNvPr>
          <p:cNvSpPr txBox="1"/>
          <p:nvPr/>
        </p:nvSpPr>
        <p:spPr>
          <a:xfrm>
            <a:off x="883036" y="2499514"/>
            <a:ext cx="9144000" cy="169277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Confidentiality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only authorized users can access information.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Protects sensitive data from unauthorized disclosure.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Password-protected online banking.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E08328-9379-E017-52DF-E62E6E93E79A}"/>
              </a:ext>
            </a:extLst>
          </p:cNvPr>
          <p:cNvSpPr txBox="1"/>
          <p:nvPr/>
        </p:nvSpPr>
        <p:spPr>
          <a:xfrm>
            <a:off x="883036" y="6110903"/>
            <a:ext cx="9144000" cy="200054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Availability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systems and data are accessible whenever needed.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downtime and service interruptions.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ATM services available 24/7.</a:t>
            </a:r>
          </a:p>
          <a:p>
            <a:pPr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4B1191-172E-8F93-5589-AF621FF3B95F}"/>
              </a:ext>
            </a:extLst>
          </p:cNvPr>
          <p:cNvSpPr txBox="1"/>
          <p:nvPr/>
        </p:nvSpPr>
        <p:spPr>
          <a:xfrm>
            <a:off x="883036" y="4192285"/>
            <a:ext cx="7767399" cy="1631214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Integrity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data remains accurate and unaltered.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Prevents unauthorized modifications.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Exam results stored securely.</a:t>
            </a:r>
            <a:endParaRPr kumimoji="0" lang="en-IN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9A6409-3C5F-A9F2-8B0B-B73457C42A28}"/>
              </a:ext>
            </a:extLst>
          </p:cNvPr>
          <p:cNvSpPr txBox="1"/>
          <p:nvPr/>
        </p:nvSpPr>
        <p:spPr>
          <a:xfrm>
            <a:off x="883036" y="8111451"/>
            <a:ext cx="7767399" cy="126188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Bell–</a:t>
            </a: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LaPadula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Security Model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security model focused on maintaining confidentiality.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in military and government systems.</a:t>
            </a:r>
            <a:endParaRPr kumimoji="0" lang="en-IN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69F196-B9D6-7813-108D-1DB7696AE0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2201" y="3621981"/>
            <a:ext cx="6697484" cy="376733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98647267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D3573-BAAF-117B-8AFA-2B229BFD8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Freeform 7">
            <a:extLst>
              <a:ext uri="{FF2B5EF4-FFF2-40B4-BE49-F238E27FC236}">
                <a16:creationId xmlns:a16="http://schemas.microsoft.com/office/drawing/2014/main" id="{D4ED60DF-F54D-867F-22E2-90EE1D639624}"/>
              </a:ext>
            </a:extLst>
          </p:cNvPr>
          <p:cNvSpPr/>
          <p:nvPr/>
        </p:nvSpPr>
        <p:spPr>
          <a:xfrm>
            <a:off x="15780629" y="209890"/>
            <a:ext cx="1974570" cy="201432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8" name="Freeform 8">
            <a:extLst>
              <a:ext uri="{FF2B5EF4-FFF2-40B4-BE49-F238E27FC236}">
                <a16:creationId xmlns:a16="http://schemas.microsoft.com/office/drawing/2014/main" id="{E5A8D5E9-A892-D3C3-1E19-90FD0581701B}"/>
              </a:ext>
            </a:extLst>
          </p:cNvPr>
          <p:cNvSpPr/>
          <p:nvPr/>
        </p:nvSpPr>
        <p:spPr>
          <a:xfrm>
            <a:off x="213990" y="209890"/>
            <a:ext cx="1750456" cy="2014328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E1A1AE-8B56-6D1F-DC35-E50778508880}"/>
              </a:ext>
            </a:extLst>
          </p:cNvPr>
          <p:cNvSpPr txBox="1"/>
          <p:nvPr/>
        </p:nvSpPr>
        <p:spPr>
          <a:xfrm>
            <a:off x="4332481" y="625112"/>
            <a:ext cx="10286999" cy="769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just"/>
            <a:r>
              <a:rPr lang="en-I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 Attacks, Threats, and Risks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45084A-1A0F-4EE3-F0A4-CAB9256A9C5E}"/>
              </a:ext>
            </a:extLst>
          </p:cNvPr>
          <p:cNvSpPr txBox="1"/>
          <p:nvPr/>
        </p:nvSpPr>
        <p:spPr>
          <a:xfrm>
            <a:off x="2886891" y="2416554"/>
            <a:ext cx="10855235" cy="120032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 Attack</a:t>
            </a:r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attempt to gain unauthorized access or damage a system.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compromise data confidentiality, integrity, or availability.</a:t>
            </a:r>
            <a:endParaRPr kumimoji="0" lang="en-IN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9F6CE0-34FF-64C4-9F0A-030D04F23F14}"/>
              </a:ext>
            </a:extLst>
          </p:cNvPr>
          <p:cNvSpPr txBox="1"/>
          <p:nvPr/>
        </p:nvSpPr>
        <p:spPr>
          <a:xfrm>
            <a:off x="2886891" y="3869441"/>
            <a:ext cx="11790759" cy="89255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Attacks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Malware Phishing, Password Attacks , Denial-of-Service (DoS) , Man-in-the-Middle (MITM)</a:t>
            </a:r>
            <a:endParaRPr kumimoji="0" lang="en-IN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95BC95-979A-7C8D-0EB1-135A614019F6}"/>
              </a:ext>
            </a:extLst>
          </p:cNvPr>
          <p:cNvSpPr txBox="1"/>
          <p:nvPr/>
        </p:nvSpPr>
        <p:spPr>
          <a:xfrm>
            <a:off x="2886891" y="5143500"/>
            <a:ext cx="11790759" cy="193899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Threat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potential source of harm that can exploit vulnerabilities.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Hackers , Computer Viruses , Insider Threats , Natural Disasters </a:t>
            </a:r>
          </a:p>
          <a:p>
            <a:endParaRPr kumimoji="0" lang="en-IN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D99B7A-EDD0-4BC8-6EF7-13F6B00CB8D1}"/>
              </a:ext>
            </a:extLst>
          </p:cNvPr>
          <p:cNvSpPr txBox="1"/>
          <p:nvPr/>
        </p:nvSpPr>
        <p:spPr>
          <a:xfrm>
            <a:off x="2886891" y="7183008"/>
            <a:ext cx="12752411" cy="230832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possibility that a threat will exploit a vulnerability and cause damage.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Mitigation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strong passwords , Enable Multi-Factor Authentication (MFA),  Install antivirus software,  Keep systems updated , Perform regular data backups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IN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A38E27-1B52-1093-0424-9129563313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92061" y="5203972"/>
            <a:ext cx="5571177" cy="2544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79687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EA680-4220-727B-512A-74FD4B5BF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Freeform 7">
            <a:extLst>
              <a:ext uri="{FF2B5EF4-FFF2-40B4-BE49-F238E27FC236}">
                <a16:creationId xmlns:a16="http://schemas.microsoft.com/office/drawing/2014/main" id="{79CF38D2-EC58-95A5-EF71-DD839FB62465}"/>
              </a:ext>
            </a:extLst>
          </p:cNvPr>
          <p:cNvSpPr/>
          <p:nvPr/>
        </p:nvSpPr>
        <p:spPr>
          <a:xfrm>
            <a:off x="15780629" y="209890"/>
            <a:ext cx="1974570" cy="201432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8" name="Freeform 8">
            <a:extLst>
              <a:ext uri="{FF2B5EF4-FFF2-40B4-BE49-F238E27FC236}">
                <a16:creationId xmlns:a16="http://schemas.microsoft.com/office/drawing/2014/main" id="{D8FEF831-0F84-7457-BE80-534D673D6464}"/>
              </a:ext>
            </a:extLst>
          </p:cNvPr>
          <p:cNvSpPr/>
          <p:nvPr/>
        </p:nvSpPr>
        <p:spPr>
          <a:xfrm>
            <a:off x="213990" y="209890"/>
            <a:ext cx="1750456" cy="2014328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4944A0-BA9D-CEB4-6D5D-8280681CA65D}"/>
              </a:ext>
            </a:extLst>
          </p:cNvPr>
          <p:cNvSpPr txBox="1"/>
          <p:nvPr/>
        </p:nvSpPr>
        <p:spPr>
          <a:xfrm>
            <a:off x="4932863" y="447613"/>
            <a:ext cx="9190230" cy="769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Classical </a:t>
            </a:r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Encryption</a:t>
            </a:r>
            <a:r>
              <a:rPr lang="en-I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Techniques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1FF235-DA78-A988-E433-49FAD9B0BEDF}"/>
              </a:ext>
            </a:extLst>
          </p:cNvPr>
          <p:cNvSpPr txBox="1"/>
          <p:nvPr/>
        </p:nvSpPr>
        <p:spPr>
          <a:xfrm>
            <a:off x="2122205" y="2325189"/>
            <a:ext cx="9190230" cy="193899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Encryption?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 converts readable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Plaintext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unreadable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Ciphertext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protects information from unauthorized access during storage or transmission.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IN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F048E4-0E41-8B2E-D6EB-5E8942AE1442}"/>
              </a:ext>
            </a:extLst>
          </p:cNvPr>
          <p:cNvSpPr txBox="1"/>
          <p:nvPr/>
        </p:nvSpPr>
        <p:spPr>
          <a:xfrm>
            <a:off x="2122205" y="4013985"/>
            <a:ext cx="8268788" cy="193899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Caesar Cipher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 fixed shift value to replace each letter.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substitution cipher.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HELLO → KHOOR (Shift = 3)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IN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D40B3A-410A-82F8-8B65-6524B995C573}"/>
              </a:ext>
            </a:extLst>
          </p:cNvPr>
          <p:cNvSpPr txBox="1"/>
          <p:nvPr/>
        </p:nvSpPr>
        <p:spPr>
          <a:xfrm>
            <a:off x="2102101" y="5910099"/>
            <a:ext cx="8660674" cy="193899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Vigenère Cipher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 keyword to encrypt the message.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letter is shifted differently based on the keyword.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secure than Caesar Cipher.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IN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42721A-94EB-0C58-C5EE-26424947B3A5}"/>
              </a:ext>
            </a:extLst>
          </p:cNvPr>
          <p:cNvSpPr txBox="1"/>
          <p:nvPr/>
        </p:nvSpPr>
        <p:spPr>
          <a:xfrm>
            <a:off x="2102101" y="7806213"/>
            <a:ext cx="8491876" cy="193899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Hill Cipher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matrix multiplication for encryption.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Encrypts groups of letters instead of individual characters.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stronger security than simple substitution ciphers.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IN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3B824D8-026D-21C1-7109-3767BF92F2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42423" y="3880407"/>
            <a:ext cx="6883107" cy="44740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466468789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758BF-A152-56A6-983A-E933F848E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Freeform 7">
            <a:extLst>
              <a:ext uri="{FF2B5EF4-FFF2-40B4-BE49-F238E27FC236}">
                <a16:creationId xmlns:a16="http://schemas.microsoft.com/office/drawing/2014/main" id="{F55D04EA-AA4F-9955-0085-F5CA549DAEC7}"/>
              </a:ext>
            </a:extLst>
          </p:cNvPr>
          <p:cNvSpPr/>
          <p:nvPr/>
        </p:nvSpPr>
        <p:spPr>
          <a:xfrm>
            <a:off x="15780629" y="209890"/>
            <a:ext cx="1974570" cy="201432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8" name="Freeform 8">
            <a:extLst>
              <a:ext uri="{FF2B5EF4-FFF2-40B4-BE49-F238E27FC236}">
                <a16:creationId xmlns:a16="http://schemas.microsoft.com/office/drawing/2014/main" id="{9F7FB261-469B-0AE8-EA2D-8D85208D8B67}"/>
              </a:ext>
            </a:extLst>
          </p:cNvPr>
          <p:cNvSpPr/>
          <p:nvPr/>
        </p:nvSpPr>
        <p:spPr>
          <a:xfrm>
            <a:off x="213990" y="209890"/>
            <a:ext cx="1750456" cy="2014328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2B52F1-0122-EBBA-4F60-8B81891940DE}"/>
              </a:ext>
            </a:extLst>
          </p:cNvPr>
          <p:cNvSpPr txBox="1"/>
          <p:nvPr/>
        </p:nvSpPr>
        <p:spPr>
          <a:xfrm>
            <a:off x="4689566" y="598986"/>
            <a:ext cx="10569995" cy="830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&amp; Key Takeaways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895CA4-8588-19B3-1867-05175C985CE3}"/>
              </a:ext>
            </a:extLst>
          </p:cNvPr>
          <p:cNvSpPr txBox="1"/>
          <p:nvPr/>
        </p:nvSpPr>
        <p:spPr>
          <a:xfrm>
            <a:off x="2369395" y="2224218"/>
            <a:ext cx="11299371" cy="384720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Online Banking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Military Communication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Password Protection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VPN Security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Email Encryption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Digital Signatures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Security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Device Security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Mobile Applications</a:t>
            </a:r>
            <a:endParaRPr kumimoji="0" lang="en-IN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4EFA92-C650-4760-0892-F902D9820F66}"/>
              </a:ext>
            </a:extLst>
          </p:cNvPr>
          <p:cNvSpPr txBox="1"/>
          <p:nvPr/>
        </p:nvSpPr>
        <p:spPr>
          <a:xfrm>
            <a:off x="2369395" y="6539289"/>
            <a:ext cx="10569995" cy="3046986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Security protects valuable digital information.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CIA Triad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ensures Confidentiality, Integrity, and Availability.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Bell–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LaPadula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protects confidential information through access control.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attacks, threats, and risks must be identified and managed.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Classical encryption techniques are the foundation of modern cryptography.</a:t>
            </a: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</a:pPr>
            <a:endParaRPr kumimoji="0" lang="en-IN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F9A5E1-98B3-5E10-A67D-CEDE640948D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8376"/>
          <a:stretch>
            <a:fillRect/>
          </a:stretch>
        </p:blipFill>
        <p:spPr>
          <a:xfrm>
            <a:off x="11827630" y="2692084"/>
            <a:ext cx="5927569" cy="4650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038733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box 126"/>
          <p:cNvSpPr/>
          <p:nvPr/>
        </p:nvSpPr>
        <p:spPr>
          <a:xfrm>
            <a:off x="3936302" y="4648619"/>
            <a:ext cx="10799445" cy="155733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2000"/>
              </a:lnSpc>
            </a:pPr>
            <a:endParaRPr sz="15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050" algn="ctr" eaLnBrk="0">
              <a:lnSpc>
                <a:spcPct val="69000"/>
              </a:lnSpc>
            </a:pPr>
            <a:r>
              <a:rPr sz="14400" spc="-60" dirty="0">
                <a:solidFill>
                  <a:srgbClr val="000000">
                    <a:alpha val="100000"/>
                  </a:srgbClr>
                </a:solidFill>
                <a:latin typeface="Algerian" panose="04020705040A02060702" pitchFamily="82" charset="0"/>
                <a:ea typeface="Times New Roman" panose="02020603050405020304"/>
                <a:cs typeface="Times New Roman" panose="02020603050405020304"/>
              </a:rPr>
              <a:t>THANK YOU</a:t>
            </a:r>
            <a:endParaRPr sz="14400" dirty="0">
              <a:latin typeface="Algerian" panose="04020705040A02060702" pitchFamily="82" charset="0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128" name="picture 1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5783091" y="390792"/>
            <a:ext cx="2295254" cy="2295255"/>
          </a:xfrm>
          <a:prstGeom prst="rect">
            <a:avLst/>
          </a:prstGeom>
        </p:spPr>
      </p:pic>
      <p:pic>
        <p:nvPicPr>
          <p:cNvPr id="130" name="picture 1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43504" y="319352"/>
            <a:ext cx="1920572" cy="24381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499</Words>
  <Application>Microsoft Office PowerPoint</Application>
  <PresentationFormat>Custom</PresentationFormat>
  <Paragraphs>79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Algerian</vt:lpstr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VISWA SANKAR</dc:creator>
  <cp:keywords>VENKATA PRASADH REDDY</cp:keywords>
  <cp:lastModifiedBy>Ch Aravind</cp:lastModifiedBy>
  <cp:revision>90</cp:revision>
  <dcterms:created xsi:type="dcterms:W3CDTF">2026-06-14T12:15:00Z</dcterms:created>
  <dcterms:modified xsi:type="dcterms:W3CDTF">2026-07-22T05:55:23Z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51D6A701CB77437C81B89BB90DA8A435_13</vt:lpwstr>
  </property>
</Properties>
</file>