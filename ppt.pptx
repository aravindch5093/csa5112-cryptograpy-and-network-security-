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77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60527" y="4877381"/>
            <a:ext cx="1008705" cy="1908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514" y="365252"/>
            <a:ext cx="8176971" cy="478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486" y="2547366"/>
            <a:ext cx="4008120" cy="1426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3514" y="1120520"/>
            <a:ext cx="4280535" cy="1316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ts val="3429"/>
              </a:lnSpc>
              <a:spcBef>
                <a:spcPts val="105"/>
              </a:spcBef>
            </a:pPr>
            <a:r>
              <a:rPr sz="2750" dirty="0"/>
              <a:t>From</a:t>
            </a:r>
            <a:r>
              <a:rPr sz="2750" spc="-85" dirty="0"/>
              <a:t> </a:t>
            </a:r>
            <a:r>
              <a:rPr sz="2750" dirty="0"/>
              <a:t>Caesar</a:t>
            </a:r>
            <a:r>
              <a:rPr sz="2750" spc="-90" dirty="0"/>
              <a:t> </a:t>
            </a:r>
            <a:r>
              <a:rPr sz="2750" spc="100" dirty="0"/>
              <a:t>to</a:t>
            </a:r>
            <a:r>
              <a:rPr sz="2750" spc="-75" dirty="0"/>
              <a:t> </a:t>
            </a:r>
            <a:r>
              <a:rPr sz="2750" spc="-10" dirty="0"/>
              <a:t>Vigenère: </a:t>
            </a:r>
            <a:r>
              <a:rPr sz="2750" spc="-20" dirty="0"/>
              <a:t>Evolution</a:t>
            </a:r>
            <a:r>
              <a:rPr sz="2750" spc="-75" dirty="0"/>
              <a:t> </a:t>
            </a:r>
            <a:r>
              <a:rPr sz="2750" dirty="0"/>
              <a:t>of</a:t>
            </a:r>
            <a:r>
              <a:rPr sz="2750" spc="-80" dirty="0"/>
              <a:t> </a:t>
            </a:r>
            <a:r>
              <a:rPr sz="2750" spc="-10" dirty="0"/>
              <a:t>Substitution</a:t>
            </a:r>
            <a:endParaRPr sz="2750"/>
          </a:p>
          <a:p>
            <a:pPr marL="12700">
              <a:lnSpc>
                <a:spcPct val="100000"/>
              </a:lnSpc>
            </a:pPr>
            <a:r>
              <a:rPr sz="2750" spc="-10" dirty="0"/>
              <a:t>Ciphers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483514" y="2725038"/>
            <a:ext cx="4578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5" dirty="0">
                <a:solidFill>
                  <a:srgbClr val="464646"/>
                </a:solidFill>
                <a:latin typeface="Verdana"/>
                <a:cs typeface="Verdana"/>
              </a:rPr>
              <a:t>Cryptography</a:t>
            </a:r>
            <a:r>
              <a:rPr sz="16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464646"/>
                </a:solidFill>
                <a:latin typeface="Verdana"/>
                <a:cs typeface="Verdana"/>
              </a:rPr>
              <a:t>and</a:t>
            </a:r>
            <a:r>
              <a:rPr sz="1600" spc="-12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464646"/>
                </a:solidFill>
                <a:latin typeface="Verdana"/>
                <a:cs typeface="Verdana"/>
              </a:rPr>
              <a:t>Network</a:t>
            </a:r>
            <a:r>
              <a:rPr sz="16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464646"/>
                </a:solidFill>
                <a:latin typeface="Verdana"/>
                <a:cs typeface="Verdana"/>
              </a:rPr>
              <a:t>Security</a:t>
            </a:r>
            <a:r>
              <a:rPr sz="16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464646"/>
                </a:solidFill>
                <a:latin typeface="Verdana"/>
                <a:cs typeface="Verdana"/>
              </a:rPr>
              <a:t>(CSA5112)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4954" y="4160316"/>
            <a:ext cx="1743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SUBMITTED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BY </a:t>
            </a:r>
            <a:endParaRPr lang="en-US" sz="1400" spc="-25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400" spc="-25" dirty="0">
                <a:latin typeface="Calibri"/>
                <a:cs typeface="Calibri"/>
              </a:rPr>
              <a:t>CH Aravind </a:t>
            </a:r>
            <a:r>
              <a:rPr sz="1400" spc="-10" dirty="0">
                <a:latin typeface="Calibri"/>
                <a:cs typeface="Calibri"/>
              </a:rPr>
              <a:t>(192</a:t>
            </a:r>
            <a:r>
              <a:rPr lang="en-US" sz="1400" spc="-10" dirty="0">
                <a:latin typeface="Calibri"/>
                <a:cs typeface="Calibri"/>
              </a:rPr>
              <a:t>3</a:t>
            </a:r>
            <a:r>
              <a:rPr sz="1400" spc="-10" dirty="0">
                <a:latin typeface="Calibri"/>
                <a:cs typeface="Calibri"/>
              </a:rPr>
              <a:t>2</a:t>
            </a:r>
            <a:r>
              <a:rPr lang="en-US" sz="1400" spc="-10" dirty="0">
                <a:latin typeface="Calibri"/>
                <a:cs typeface="Calibri"/>
              </a:rPr>
              <a:t>5093</a:t>
            </a:r>
            <a:r>
              <a:rPr sz="1400" spc="-10" dirty="0">
                <a:latin typeface="Calibri"/>
                <a:cs typeface="Calibri"/>
              </a:rPr>
              <a:t>)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-1"/>
            <a:ext cx="34290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83514" y="365252"/>
            <a:ext cx="264160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50" dirty="0"/>
              <a:t>What</a:t>
            </a:r>
            <a:r>
              <a:rPr sz="1350" spc="-5" dirty="0"/>
              <a:t> </a:t>
            </a:r>
            <a:r>
              <a:rPr sz="1350" dirty="0"/>
              <a:t>Are</a:t>
            </a:r>
            <a:r>
              <a:rPr sz="1350" spc="-5" dirty="0"/>
              <a:t> </a:t>
            </a:r>
            <a:r>
              <a:rPr sz="1350" dirty="0"/>
              <a:t>Substitution</a:t>
            </a:r>
            <a:r>
              <a:rPr sz="1350" spc="-50" dirty="0"/>
              <a:t> </a:t>
            </a:r>
            <a:r>
              <a:rPr sz="1350" spc="-10" dirty="0"/>
              <a:t>Ciphers?</a:t>
            </a:r>
            <a:endParaRPr sz="1350"/>
          </a:p>
        </p:txBody>
      </p:sp>
      <p:grpSp>
        <p:nvGrpSpPr>
          <p:cNvPr id="6" name="object 6"/>
          <p:cNvGrpSpPr/>
          <p:nvPr/>
        </p:nvGrpSpPr>
        <p:grpSpPr>
          <a:xfrm>
            <a:off x="496823" y="704087"/>
            <a:ext cx="7245350" cy="4439920"/>
            <a:chOff x="496823" y="704087"/>
            <a:chExt cx="7245350" cy="4439920"/>
          </a:xfrm>
        </p:grpSpPr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823" y="704087"/>
              <a:ext cx="5237988" cy="2749296"/>
            </a:xfrm>
            <a:prstGeom prst="rect">
              <a:avLst/>
            </a:prstGeom>
          </p:spPr>
        </p:pic>
        <p:pic>
          <p:nvPicPr>
            <p:cNvPr id="8" name="object 8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2079" y="3430523"/>
              <a:ext cx="6339840" cy="17129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895594" y="710692"/>
            <a:ext cx="2727325" cy="26130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315"/>
              </a:spcBef>
            </a:pPr>
            <a:r>
              <a:rPr sz="1200" b="1" spc="-10" dirty="0">
                <a:solidFill>
                  <a:srgbClr val="030303"/>
                </a:solidFill>
                <a:latin typeface="Arial"/>
                <a:cs typeface="Arial"/>
              </a:rPr>
              <a:t>Definition</a:t>
            </a:r>
            <a:endParaRPr sz="1200">
              <a:latin typeface="Arial"/>
              <a:cs typeface="Arial"/>
            </a:endParaRPr>
          </a:p>
          <a:p>
            <a:pPr marL="51435" marR="5080">
              <a:lnSpc>
                <a:spcPct val="99500"/>
              </a:lnSpc>
              <a:spcBef>
                <a:spcPts val="225"/>
              </a:spcBef>
            </a:pPr>
            <a:r>
              <a:rPr sz="1200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12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substitution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 cipher</a:t>
            </a:r>
            <a:r>
              <a:rPr sz="12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replaces</a:t>
            </a:r>
            <a:r>
              <a:rPr sz="1200" spc="-10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each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letter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646"/>
                </a:solidFill>
                <a:latin typeface="Verdana"/>
                <a:cs typeface="Verdana"/>
              </a:rPr>
              <a:t>of</a:t>
            </a:r>
            <a:r>
              <a:rPr sz="12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464646"/>
                </a:solidFill>
                <a:latin typeface="Verdana"/>
                <a:cs typeface="Verdana"/>
              </a:rPr>
              <a:t>plaintext</a:t>
            </a:r>
            <a:r>
              <a:rPr sz="12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with</a:t>
            </a:r>
            <a:r>
              <a:rPr sz="12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another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letter,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symbol,</a:t>
            </a:r>
            <a:r>
              <a:rPr sz="1200" spc="-9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or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464646"/>
                </a:solidFill>
                <a:latin typeface="Verdana"/>
                <a:cs typeface="Verdana"/>
              </a:rPr>
              <a:t>number</a:t>
            </a:r>
            <a:r>
              <a:rPr sz="12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based</a:t>
            </a:r>
            <a:r>
              <a:rPr sz="12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464646"/>
                </a:solidFill>
                <a:latin typeface="Verdana"/>
                <a:cs typeface="Verdana"/>
              </a:rPr>
              <a:t>on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 a</a:t>
            </a:r>
            <a:r>
              <a:rPr sz="12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fixed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rule</a:t>
            </a:r>
            <a:r>
              <a:rPr sz="1200" spc="-9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or</a:t>
            </a:r>
            <a:r>
              <a:rPr sz="12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key.</a:t>
            </a:r>
            <a:endParaRPr sz="1200">
              <a:latin typeface="Verdana"/>
              <a:cs typeface="Verdana"/>
            </a:endParaRPr>
          </a:p>
          <a:p>
            <a:pPr marL="51435">
              <a:lnSpc>
                <a:spcPct val="100000"/>
              </a:lnSpc>
              <a:spcBef>
                <a:spcPts val="615"/>
              </a:spcBef>
            </a:pPr>
            <a:r>
              <a:rPr sz="1200" b="1" dirty="0">
                <a:solidFill>
                  <a:srgbClr val="030303"/>
                </a:solidFill>
                <a:latin typeface="Arial"/>
                <a:cs typeface="Arial"/>
              </a:rPr>
              <a:t>Key</a:t>
            </a:r>
            <a:r>
              <a:rPr sz="1200" b="1" spc="-6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30303"/>
                </a:solidFill>
                <a:latin typeface="Arial"/>
                <a:cs typeface="Arial"/>
              </a:rPr>
              <a:t>Characteristics</a:t>
            </a:r>
            <a:endParaRPr sz="1200">
              <a:latin typeface="Arial"/>
              <a:cs typeface="Arial"/>
            </a:endParaRPr>
          </a:p>
          <a:p>
            <a:pPr marL="122555" marR="518159" indent="-110489">
              <a:lnSpc>
                <a:spcPts val="1420"/>
              </a:lnSpc>
              <a:spcBef>
                <a:spcPts val="710"/>
              </a:spcBef>
              <a:buChar char="•"/>
              <a:tabLst>
                <a:tab pos="123825" algn="l"/>
              </a:tabLst>
            </a:pP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One</a:t>
            </a:r>
            <a:r>
              <a:rPr sz="12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646"/>
                </a:solidFill>
                <a:latin typeface="Verdana"/>
                <a:cs typeface="Verdana"/>
              </a:rPr>
              <a:t>of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464646"/>
                </a:solidFill>
                <a:latin typeface="Verdana"/>
                <a:cs typeface="Verdana"/>
              </a:rPr>
              <a:t>oldest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encryption 	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techniques</a:t>
            </a:r>
            <a:endParaRPr sz="1200">
              <a:latin typeface="Verdana"/>
              <a:cs typeface="Verdana"/>
            </a:endParaRPr>
          </a:p>
          <a:p>
            <a:pPr marL="123189" indent="-110489">
              <a:lnSpc>
                <a:spcPts val="1405"/>
              </a:lnSpc>
              <a:buChar char="•"/>
              <a:tabLst>
                <a:tab pos="123189" algn="l"/>
              </a:tabLst>
            </a:pPr>
            <a:r>
              <a:rPr sz="1200" dirty="0">
                <a:solidFill>
                  <a:srgbClr val="464646"/>
                </a:solidFill>
                <a:latin typeface="Verdana"/>
                <a:cs typeface="Verdana"/>
              </a:rPr>
              <a:t>Uses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12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key</a:t>
            </a:r>
            <a:r>
              <a:rPr sz="12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for</a:t>
            </a:r>
            <a:r>
              <a:rPr sz="12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both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464646"/>
                </a:solidFill>
                <a:latin typeface="Verdana"/>
                <a:cs typeface="Verdana"/>
              </a:rPr>
              <a:t>encryption</a:t>
            </a:r>
            <a:r>
              <a:rPr sz="12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464646"/>
                </a:solidFill>
                <a:latin typeface="Verdana"/>
                <a:cs typeface="Verdana"/>
              </a:rPr>
              <a:t>and</a:t>
            </a:r>
            <a:endParaRPr sz="1200">
              <a:latin typeface="Verdana"/>
              <a:cs typeface="Verdana"/>
            </a:endParaRPr>
          </a:p>
          <a:p>
            <a:pPr marL="123825">
              <a:lnSpc>
                <a:spcPts val="1430"/>
              </a:lnSpc>
            </a:pP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decryption</a:t>
            </a:r>
            <a:endParaRPr sz="1200">
              <a:latin typeface="Verdana"/>
              <a:cs typeface="Verdana"/>
            </a:endParaRPr>
          </a:p>
          <a:p>
            <a:pPr marL="123189" indent="-110489">
              <a:lnSpc>
                <a:spcPct val="100000"/>
              </a:lnSpc>
              <a:spcBef>
                <a:spcPts val="5"/>
              </a:spcBef>
              <a:buChar char="•"/>
              <a:tabLst>
                <a:tab pos="123189" algn="l"/>
              </a:tabLst>
            </a:pP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Provides</a:t>
            </a:r>
            <a:r>
              <a:rPr sz="12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464646"/>
                </a:solidFill>
                <a:latin typeface="Verdana"/>
                <a:cs typeface="Verdana"/>
              </a:rPr>
              <a:t>message</a:t>
            </a:r>
            <a:r>
              <a:rPr sz="12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confidentiality</a:t>
            </a:r>
            <a:endParaRPr sz="1200">
              <a:latin typeface="Verdana"/>
              <a:cs typeface="Verdana"/>
            </a:endParaRPr>
          </a:p>
          <a:p>
            <a:pPr marL="122555" marR="920750" indent="-110489">
              <a:lnSpc>
                <a:spcPts val="1420"/>
              </a:lnSpc>
              <a:spcBef>
                <a:spcPts val="85"/>
              </a:spcBef>
              <a:buChar char="•"/>
              <a:tabLst>
                <a:tab pos="123825" algn="l"/>
              </a:tabLst>
            </a:pPr>
            <a:r>
              <a:rPr sz="1200" spc="-30" dirty="0">
                <a:solidFill>
                  <a:srgbClr val="464646"/>
                </a:solidFill>
                <a:latin typeface="Verdana"/>
                <a:cs typeface="Verdana"/>
              </a:rPr>
              <a:t>Foundation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for</a:t>
            </a:r>
            <a:r>
              <a:rPr sz="12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modern 	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cryptography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976361" y="4730241"/>
            <a:ext cx="1174115" cy="419734"/>
            <a:chOff x="7976361" y="4730241"/>
            <a:chExt cx="1174115" cy="419734"/>
          </a:xfrm>
        </p:grpSpPr>
        <p:sp>
          <p:nvSpPr>
            <p:cNvPr id="3" name="object 3"/>
            <p:cNvSpPr/>
            <p:nvPr/>
          </p:nvSpPr>
          <p:spPr>
            <a:xfrm>
              <a:off x="7982711" y="4736591"/>
              <a:ext cx="1161415" cy="407034"/>
            </a:xfrm>
            <a:custGeom>
              <a:avLst/>
              <a:gdLst/>
              <a:ahLst/>
              <a:cxnLst/>
              <a:rect l="l" t="t" r="r" b="b"/>
              <a:pathLst>
                <a:path w="1161415" h="407035">
                  <a:moveTo>
                    <a:pt x="1161288" y="0"/>
                  </a:moveTo>
                  <a:lnTo>
                    <a:pt x="0" y="0"/>
                  </a:lnTo>
                  <a:lnTo>
                    <a:pt x="0" y="406908"/>
                  </a:lnTo>
                  <a:lnTo>
                    <a:pt x="1161288" y="406908"/>
                  </a:lnTo>
                  <a:lnTo>
                    <a:pt x="1161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82711" y="4736591"/>
              <a:ext cx="1161415" cy="407034"/>
            </a:xfrm>
            <a:custGeom>
              <a:avLst/>
              <a:gdLst/>
              <a:ahLst/>
              <a:cxnLst/>
              <a:rect l="l" t="t" r="r" b="b"/>
              <a:pathLst>
                <a:path w="1161415" h="407035">
                  <a:moveTo>
                    <a:pt x="0" y="406908"/>
                  </a:moveTo>
                  <a:lnTo>
                    <a:pt x="1161288" y="406908"/>
                  </a:lnTo>
                  <a:lnTo>
                    <a:pt x="1161288" y="0"/>
                  </a:lnTo>
                  <a:lnTo>
                    <a:pt x="0" y="0"/>
                  </a:lnTo>
                  <a:lnTo>
                    <a:pt x="0" y="40690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3428999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41700">
              <a:lnSpc>
                <a:spcPct val="100000"/>
              </a:lnSpc>
              <a:spcBef>
                <a:spcPts val="95"/>
              </a:spcBef>
            </a:pPr>
            <a:r>
              <a:rPr sz="2750" dirty="0"/>
              <a:t>Caesar</a:t>
            </a:r>
            <a:r>
              <a:rPr sz="2750" spc="-5" dirty="0"/>
              <a:t> </a:t>
            </a:r>
            <a:r>
              <a:rPr sz="2750" spc="-10" dirty="0"/>
              <a:t>Cipher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3913123" y="1049502"/>
            <a:ext cx="4466590" cy="69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00"/>
              </a:spcBef>
            </a:pP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Developed</a:t>
            </a:r>
            <a:r>
              <a:rPr sz="11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by</a:t>
            </a:r>
            <a:r>
              <a:rPr sz="11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64646"/>
                </a:solidFill>
                <a:latin typeface="Verdana"/>
                <a:cs typeface="Verdana"/>
              </a:rPr>
              <a:t>Julius</a:t>
            </a:r>
            <a:r>
              <a:rPr sz="11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64646"/>
                </a:solidFill>
                <a:latin typeface="Verdana"/>
                <a:cs typeface="Verdana"/>
              </a:rPr>
              <a:t>Caesar</a:t>
            </a:r>
            <a:r>
              <a:rPr sz="11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64646"/>
                </a:solidFill>
                <a:latin typeface="Verdana"/>
                <a:cs typeface="Verdana"/>
              </a:rPr>
              <a:t>around</a:t>
            </a:r>
            <a:r>
              <a:rPr sz="11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464646"/>
                </a:solidFill>
                <a:latin typeface="Tahoma"/>
                <a:cs typeface="Tahoma"/>
              </a:rPr>
              <a:t>50</a:t>
            </a:r>
            <a:r>
              <a:rPr sz="1100" b="1" spc="-35" dirty="0">
                <a:solidFill>
                  <a:srgbClr val="464646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464646"/>
                </a:solidFill>
                <a:latin typeface="Tahoma"/>
                <a:cs typeface="Tahoma"/>
              </a:rPr>
              <a:t>BC</a:t>
            </a:r>
            <a:r>
              <a:rPr sz="1100" b="1" spc="-15" dirty="0">
                <a:solidFill>
                  <a:srgbClr val="464646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64646"/>
                </a:solidFill>
                <a:latin typeface="Verdana"/>
                <a:cs typeface="Verdana"/>
              </a:rPr>
              <a:t>for</a:t>
            </a:r>
            <a:r>
              <a:rPr sz="11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64646"/>
                </a:solidFill>
                <a:latin typeface="Verdana"/>
                <a:cs typeface="Verdana"/>
              </a:rPr>
              <a:t>secure</a:t>
            </a:r>
            <a:r>
              <a:rPr sz="11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64646"/>
                </a:solidFill>
                <a:latin typeface="Verdana"/>
                <a:cs typeface="Verdana"/>
              </a:rPr>
              <a:t>military </a:t>
            </a:r>
            <a:r>
              <a:rPr sz="1100" spc="-40" dirty="0">
                <a:solidFill>
                  <a:srgbClr val="464646"/>
                </a:solidFill>
                <a:latin typeface="Verdana"/>
                <a:cs typeface="Verdana"/>
              </a:rPr>
              <a:t>communication.</a:t>
            </a:r>
            <a:r>
              <a:rPr sz="11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Each</a:t>
            </a:r>
            <a:r>
              <a:rPr sz="1100" spc="-50" dirty="0">
                <a:solidFill>
                  <a:srgbClr val="464646"/>
                </a:solidFill>
                <a:latin typeface="Verdana"/>
                <a:cs typeface="Verdana"/>
              </a:rPr>
              <a:t> letter </a:t>
            </a:r>
            <a:r>
              <a:rPr sz="1100" spc="-10" dirty="0">
                <a:solidFill>
                  <a:srgbClr val="464646"/>
                </a:solidFill>
                <a:latin typeface="Verdana"/>
                <a:cs typeface="Verdana"/>
              </a:rPr>
              <a:t>is</a:t>
            </a:r>
            <a:r>
              <a:rPr sz="11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shifted</a:t>
            </a:r>
            <a:r>
              <a:rPr sz="11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forward</a:t>
            </a:r>
            <a:r>
              <a:rPr sz="1100" spc="-114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by</a:t>
            </a:r>
            <a:r>
              <a:rPr sz="11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11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64646"/>
                </a:solidFill>
                <a:latin typeface="Verdana"/>
                <a:cs typeface="Verdana"/>
              </a:rPr>
              <a:t>fixed</a:t>
            </a:r>
            <a:r>
              <a:rPr sz="11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64646"/>
                </a:solidFill>
                <a:latin typeface="Verdana"/>
                <a:cs typeface="Verdana"/>
              </a:rPr>
              <a:t>number</a:t>
            </a:r>
            <a:r>
              <a:rPr sz="11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of positions</a:t>
            </a:r>
            <a:r>
              <a:rPr sz="1100" spc="-114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464646"/>
                </a:solidFill>
                <a:latin typeface="Verdana"/>
                <a:cs typeface="Verdana"/>
              </a:rPr>
              <a:t>in</a:t>
            </a:r>
            <a:r>
              <a:rPr sz="11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r>
              <a:rPr sz="11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64646"/>
                </a:solidFill>
                <a:latin typeface="Verdana"/>
                <a:cs typeface="Verdana"/>
              </a:rPr>
              <a:t>alphabet.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25823" y="1927860"/>
            <a:ext cx="2289175" cy="1546860"/>
          </a:xfrm>
          <a:custGeom>
            <a:avLst/>
            <a:gdLst/>
            <a:ahLst/>
            <a:cxnLst/>
            <a:rect l="l" t="t" r="r" b="b"/>
            <a:pathLst>
              <a:path w="2289175" h="1546860">
                <a:moveTo>
                  <a:pt x="2267839" y="0"/>
                </a:moveTo>
                <a:lnTo>
                  <a:pt x="21209" y="0"/>
                </a:lnTo>
                <a:lnTo>
                  <a:pt x="12965" y="1670"/>
                </a:lnTo>
                <a:lnTo>
                  <a:pt x="6222" y="6223"/>
                </a:lnTo>
                <a:lnTo>
                  <a:pt x="1670" y="12965"/>
                </a:lnTo>
                <a:lnTo>
                  <a:pt x="0" y="21208"/>
                </a:lnTo>
                <a:lnTo>
                  <a:pt x="0" y="1525651"/>
                </a:lnTo>
                <a:lnTo>
                  <a:pt x="1670" y="1533894"/>
                </a:lnTo>
                <a:lnTo>
                  <a:pt x="6223" y="1540636"/>
                </a:lnTo>
                <a:lnTo>
                  <a:pt x="12965" y="1545189"/>
                </a:lnTo>
                <a:lnTo>
                  <a:pt x="21209" y="1546859"/>
                </a:lnTo>
                <a:lnTo>
                  <a:pt x="2267839" y="1546859"/>
                </a:lnTo>
                <a:lnTo>
                  <a:pt x="2276082" y="1545189"/>
                </a:lnTo>
                <a:lnTo>
                  <a:pt x="2282825" y="1540636"/>
                </a:lnTo>
                <a:lnTo>
                  <a:pt x="2287377" y="1533894"/>
                </a:lnTo>
                <a:lnTo>
                  <a:pt x="2289048" y="1525651"/>
                </a:lnTo>
                <a:lnTo>
                  <a:pt x="2289048" y="21208"/>
                </a:lnTo>
                <a:lnTo>
                  <a:pt x="2287377" y="12965"/>
                </a:lnTo>
                <a:lnTo>
                  <a:pt x="2282825" y="6223"/>
                </a:lnTo>
                <a:lnTo>
                  <a:pt x="2276082" y="1670"/>
                </a:lnTo>
                <a:lnTo>
                  <a:pt x="2267839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54855" y="2046223"/>
            <a:ext cx="111633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464646"/>
                </a:solidFill>
                <a:latin typeface="Arial"/>
                <a:cs typeface="Arial"/>
              </a:rPr>
              <a:t>How</a:t>
            </a:r>
            <a:r>
              <a:rPr sz="1350" b="1" spc="-3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464646"/>
                </a:solidFill>
                <a:latin typeface="Arial"/>
                <a:cs typeface="Arial"/>
              </a:rPr>
              <a:t>It</a:t>
            </a:r>
            <a:r>
              <a:rPr sz="1350" b="1" spc="-2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464646"/>
                </a:solidFill>
                <a:latin typeface="Arial"/>
                <a:cs typeface="Arial"/>
              </a:rPr>
              <a:t>Works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0048" y="2408808"/>
            <a:ext cx="1371600" cy="1727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95"/>
              </a:lnSpc>
            </a:pP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A</a:t>
            </a:r>
            <a:r>
              <a:rPr sz="1100" spc="-1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→</a:t>
            </a:r>
            <a:r>
              <a:rPr sz="1100" spc="-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D,</a:t>
            </a:r>
            <a:r>
              <a:rPr sz="1100" spc="-2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B</a:t>
            </a:r>
            <a:r>
              <a:rPr sz="1100" spc="-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→</a:t>
            </a:r>
            <a:r>
              <a:rPr sz="1100" spc="-1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E,</a:t>
            </a:r>
            <a:r>
              <a:rPr sz="1100" spc="-2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C</a:t>
            </a:r>
            <a:r>
              <a:rPr sz="1100" spc="-1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spc="-50" dirty="0">
                <a:solidFill>
                  <a:srgbClr val="464646"/>
                </a:solidFill>
                <a:latin typeface="Consolas"/>
                <a:cs typeface="Consolas"/>
              </a:rPr>
              <a:t>→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66921" y="2631313"/>
            <a:ext cx="152400" cy="172720"/>
          </a:xfrm>
          <a:custGeom>
            <a:avLst/>
            <a:gdLst/>
            <a:ahLst/>
            <a:cxnLst/>
            <a:rect l="l" t="t" r="r" b="b"/>
            <a:pathLst>
              <a:path w="152400" h="172719">
                <a:moveTo>
                  <a:pt x="152400" y="0"/>
                </a:moveTo>
                <a:lnTo>
                  <a:pt x="0" y="0"/>
                </a:lnTo>
                <a:lnTo>
                  <a:pt x="0" y="172212"/>
                </a:lnTo>
                <a:lnTo>
                  <a:pt x="152400" y="172212"/>
                </a:lnTo>
                <a:lnTo>
                  <a:pt x="1524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54855" y="2337301"/>
            <a:ext cx="631825" cy="4718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40" dirty="0">
                <a:solidFill>
                  <a:srgbClr val="464646"/>
                </a:solidFill>
                <a:latin typeface="Verdana"/>
                <a:cs typeface="Verdana"/>
              </a:rPr>
              <a:t>Shift</a:t>
            </a:r>
            <a:r>
              <a:rPr sz="11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170" dirty="0">
                <a:solidFill>
                  <a:srgbClr val="464646"/>
                </a:solidFill>
                <a:latin typeface="Verdana"/>
                <a:cs typeface="Verdana"/>
              </a:rPr>
              <a:t>=</a:t>
            </a:r>
            <a:r>
              <a:rPr sz="11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64646"/>
                </a:solidFill>
                <a:latin typeface="Verdana"/>
                <a:cs typeface="Verdana"/>
              </a:rPr>
              <a:t>3: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25" dirty="0">
                <a:solidFill>
                  <a:srgbClr val="464646"/>
                </a:solidFill>
                <a:latin typeface="Consolas"/>
                <a:cs typeface="Consolas"/>
              </a:rPr>
              <a:t>F…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66921" y="2853817"/>
            <a:ext cx="1003300" cy="1727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HELLO</a:t>
            </a:r>
            <a:r>
              <a:rPr sz="1100" spc="-20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464646"/>
                </a:solidFill>
                <a:latin typeface="Consolas"/>
                <a:cs typeface="Consolas"/>
              </a:rPr>
              <a:t>→</a:t>
            </a:r>
            <a:r>
              <a:rPr sz="1100" spc="-15" dirty="0">
                <a:solidFill>
                  <a:srgbClr val="464646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464646"/>
                </a:solidFill>
                <a:latin typeface="Consolas"/>
                <a:cs typeface="Consolas"/>
              </a:rPr>
              <a:t>KHOOR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56603" y="1927860"/>
            <a:ext cx="2291080" cy="1546860"/>
          </a:xfrm>
          <a:custGeom>
            <a:avLst/>
            <a:gdLst/>
            <a:ahLst/>
            <a:cxnLst/>
            <a:rect l="l" t="t" r="r" b="b"/>
            <a:pathLst>
              <a:path w="2291079" h="1546860">
                <a:moveTo>
                  <a:pt x="2269363" y="0"/>
                </a:moveTo>
                <a:lnTo>
                  <a:pt x="21209" y="0"/>
                </a:lnTo>
                <a:lnTo>
                  <a:pt x="12965" y="1670"/>
                </a:lnTo>
                <a:lnTo>
                  <a:pt x="6222" y="6223"/>
                </a:lnTo>
                <a:lnTo>
                  <a:pt x="1670" y="12965"/>
                </a:lnTo>
                <a:lnTo>
                  <a:pt x="0" y="21208"/>
                </a:lnTo>
                <a:lnTo>
                  <a:pt x="0" y="1525651"/>
                </a:lnTo>
                <a:lnTo>
                  <a:pt x="1670" y="1533894"/>
                </a:lnTo>
                <a:lnTo>
                  <a:pt x="6223" y="1540636"/>
                </a:lnTo>
                <a:lnTo>
                  <a:pt x="12965" y="1545189"/>
                </a:lnTo>
                <a:lnTo>
                  <a:pt x="21209" y="1546859"/>
                </a:lnTo>
                <a:lnTo>
                  <a:pt x="2269363" y="1546859"/>
                </a:lnTo>
                <a:lnTo>
                  <a:pt x="2277606" y="1545189"/>
                </a:lnTo>
                <a:lnTo>
                  <a:pt x="2284349" y="1540636"/>
                </a:lnTo>
                <a:lnTo>
                  <a:pt x="2288901" y="1533894"/>
                </a:lnTo>
                <a:lnTo>
                  <a:pt x="2290572" y="1525651"/>
                </a:lnTo>
                <a:lnTo>
                  <a:pt x="2290572" y="21208"/>
                </a:lnTo>
                <a:lnTo>
                  <a:pt x="2288901" y="12965"/>
                </a:lnTo>
                <a:lnTo>
                  <a:pt x="2284349" y="6223"/>
                </a:lnTo>
                <a:lnTo>
                  <a:pt x="2277606" y="1670"/>
                </a:lnTo>
                <a:lnTo>
                  <a:pt x="2269363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87414" y="2046223"/>
            <a:ext cx="10191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464646"/>
                </a:solidFill>
                <a:latin typeface="Arial"/>
                <a:cs typeface="Arial"/>
              </a:rPr>
              <a:t>Advantages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7414" y="2337301"/>
            <a:ext cx="1955164" cy="9182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36220" indent="-223520">
              <a:lnSpc>
                <a:spcPct val="100000"/>
              </a:lnSpc>
              <a:spcBef>
                <a:spcPts val="535"/>
              </a:spcBef>
              <a:buChar char="•"/>
              <a:tabLst>
                <a:tab pos="236220" algn="l"/>
              </a:tabLst>
            </a:pPr>
            <a:r>
              <a:rPr sz="1100" spc="-40" dirty="0">
                <a:solidFill>
                  <a:srgbClr val="464646"/>
                </a:solidFill>
                <a:latin typeface="Verdana"/>
                <a:cs typeface="Verdana"/>
              </a:rPr>
              <a:t>Simple</a:t>
            </a:r>
            <a:r>
              <a:rPr sz="11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64646"/>
                </a:solidFill>
                <a:latin typeface="Verdana"/>
                <a:cs typeface="Verdana"/>
              </a:rPr>
              <a:t>to</a:t>
            </a:r>
            <a:r>
              <a:rPr sz="11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64646"/>
                </a:solidFill>
                <a:latin typeface="Verdana"/>
                <a:cs typeface="Verdana"/>
              </a:rPr>
              <a:t>understand</a:t>
            </a:r>
            <a:r>
              <a:rPr sz="11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and</a:t>
            </a:r>
            <a:endParaRPr sz="1100">
              <a:latin typeface="Verdana"/>
              <a:cs typeface="Verdana"/>
            </a:endParaRPr>
          </a:p>
          <a:p>
            <a:pPr marL="23622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464646"/>
                </a:solidFill>
                <a:latin typeface="Verdana"/>
                <a:cs typeface="Verdana"/>
              </a:rPr>
              <a:t>implement</a:t>
            </a:r>
            <a:endParaRPr sz="1100">
              <a:latin typeface="Verdana"/>
              <a:cs typeface="Verdana"/>
            </a:endParaRPr>
          </a:p>
          <a:p>
            <a:pPr marL="236220" marR="384175" indent="-224154">
              <a:lnSpc>
                <a:spcPts val="1760"/>
              </a:lnSpc>
              <a:spcBef>
                <a:spcPts val="95"/>
              </a:spcBef>
              <a:buChar char="•"/>
              <a:tabLst>
                <a:tab pos="236220" algn="l"/>
              </a:tabLst>
            </a:pPr>
            <a:r>
              <a:rPr sz="1100" spc="-30" dirty="0">
                <a:solidFill>
                  <a:srgbClr val="464646"/>
                </a:solidFill>
                <a:latin typeface="Verdana"/>
                <a:cs typeface="Verdana"/>
              </a:rPr>
              <a:t>Fast</a:t>
            </a:r>
            <a:r>
              <a:rPr sz="11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encryption</a:t>
            </a:r>
            <a:r>
              <a:rPr sz="11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64646"/>
                </a:solidFill>
                <a:latin typeface="Verdana"/>
                <a:cs typeface="Verdana"/>
              </a:rPr>
              <a:t>and </a:t>
            </a:r>
            <a:r>
              <a:rPr sz="1100" spc="-10" dirty="0">
                <a:solidFill>
                  <a:srgbClr val="464646"/>
                </a:solidFill>
                <a:latin typeface="Verdana"/>
                <a:cs typeface="Verdana"/>
              </a:rPr>
              <a:t>decryption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25823" y="3616452"/>
            <a:ext cx="4721860" cy="1094740"/>
          </a:xfrm>
          <a:custGeom>
            <a:avLst/>
            <a:gdLst/>
            <a:ahLst/>
            <a:cxnLst/>
            <a:rect l="l" t="t" r="r" b="b"/>
            <a:pathLst>
              <a:path w="4721859" h="1094739">
                <a:moveTo>
                  <a:pt x="4700016" y="0"/>
                </a:moveTo>
                <a:lnTo>
                  <a:pt x="21336" y="0"/>
                </a:lnTo>
                <a:lnTo>
                  <a:pt x="13019" y="1672"/>
                </a:lnTo>
                <a:lnTo>
                  <a:pt x="6238" y="6238"/>
                </a:lnTo>
                <a:lnTo>
                  <a:pt x="1672" y="13019"/>
                </a:lnTo>
                <a:lnTo>
                  <a:pt x="0" y="21336"/>
                </a:lnTo>
                <a:lnTo>
                  <a:pt x="0" y="1072946"/>
                </a:lnTo>
                <a:lnTo>
                  <a:pt x="1672" y="1081233"/>
                </a:lnTo>
                <a:lnTo>
                  <a:pt x="6238" y="1087999"/>
                </a:lnTo>
                <a:lnTo>
                  <a:pt x="13019" y="1092559"/>
                </a:lnTo>
                <a:lnTo>
                  <a:pt x="21336" y="1094232"/>
                </a:lnTo>
                <a:lnTo>
                  <a:pt x="4700016" y="1094232"/>
                </a:lnTo>
                <a:lnTo>
                  <a:pt x="4708332" y="1092559"/>
                </a:lnTo>
                <a:lnTo>
                  <a:pt x="4715113" y="1087999"/>
                </a:lnTo>
                <a:lnTo>
                  <a:pt x="4719679" y="1081233"/>
                </a:lnTo>
                <a:lnTo>
                  <a:pt x="4721352" y="1072946"/>
                </a:lnTo>
                <a:lnTo>
                  <a:pt x="4721352" y="21336"/>
                </a:lnTo>
                <a:lnTo>
                  <a:pt x="4719679" y="13019"/>
                </a:lnTo>
                <a:lnTo>
                  <a:pt x="4715113" y="6238"/>
                </a:lnTo>
                <a:lnTo>
                  <a:pt x="4708332" y="1672"/>
                </a:lnTo>
                <a:lnTo>
                  <a:pt x="4700016" y="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54855" y="3735120"/>
            <a:ext cx="2129790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464646"/>
                </a:solidFill>
                <a:latin typeface="Arial"/>
                <a:cs typeface="Arial"/>
              </a:rPr>
              <a:t>Limitations</a:t>
            </a:r>
            <a:endParaRPr sz="1350" dirty="0">
              <a:latin typeface="Arial"/>
              <a:cs typeface="Arial"/>
            </a:endParaRPr>
          </a:p>
          <a:p>
            <a:pPr marL="236220" indent="-223520">
              <a:lnSpc>
                <a:spcPct val="100000"/>
              </a:lnSpc>
              <a:spcBef>
                <a:spcPts val="1105"/>
              </a:spcBef>
              <a:buChar char="•"/>
              <a:tabLst>
                <a:tab pos="236220" algn="l"/>
              </a:tabLst>
            </a:pPr>
            <a:r>
              <a:rPr sz="1100" spc="-35" dirty="0">
                <a:solidFill>
                  <a:srgbClr val="464646"/>
                </a:solidFill>
                <a:latin typeface="Verdana"/>
                <a:cs typeface="Verdana"/>
              </a:rPr>
              <a:t>Only</a:t>
            </a:r>
            <a:r>
              <a:rPr sz="1100" spc="-9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64646"/>
                </a:solidFill>
                <a:latin typeface="Verdana"/>
                <a:cs typeface="Verdana"/>
              </a:rPr>
              <a:t>2</a:t>
            </a:r>
            <a:r>
              <a:rPr lang="en-US" sz="1100" spc="-35" dirty="0">
                <a:solidFill>
                  <a:srgbClr val="464646"/>
                </a:solidFill>
                <a:latin typeface="Verdana"/>
                <a:cs typeface="Verdana"/>
              </a:rPr>
              <a:t>6</a:t>
            </a:r>
            <a:r>
              <a:rPr sz="1100" spc="-9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64646"/>
                </a:solidFill>
                <a:latin typeface="Verdana"/>
                <a:cs typeface="Verdana"/>
              </a:rPr>
              <a:t>possible</a:t>
            </a:r>
            <a:r>
              <a:rPr sz="1100" spc="-12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64646"/>
                </a:solidFill>
                <a:latin typeface="Verdana"/>
                <a:cs typeface="Verdana"/>
              </a:rPr>
              <a:t>keys</a:t>
            </a:r>
            <a:endParaRPr sz="1100" dirty="0">
              <a:latin typeface="Verdana"/>
              <a:cs typeface="Verdana"/>
            </a:endParaRPr>
          </a:p>
          <a:p>
            <a:pPr marL="236220" indent="-223520">
              <a:lnSpc>
                <a:spcPct val="100000"/>
              </a:lnSpc>
              <a:spcBef>
                <a:spcPts val="430"/>
              </a:spcBef>
              <a:buChar char="•"/>
              <a:tabLst>
                <a:tab pos="236220" algn="l"/>
              </a:tabLst>
            </a:pPr>
            <a:r>
              <a:rPr sz="1100" spc="-35" dirty="0">
                <a:solidFill>
                  <a:srgbClr val="464646"/>
                </a:solidFill>
                <a:latin typeface="Verdana"/>
                <a:cs typeface="Verdana"/>
              </a:rPr>
              <a:t>Easily</a:t>
            </a:r>
            <a:r>
              <a:rPr sz="11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464646"/>
                </a:solidFill>
                <a:latin typeface="Verdana"/>
                <a:cs typeface="Verdana"/>
              </a:rPr>
              <a:t>broken</a:t>
            </a:r>
            <a:r>
              <a:rPr sz="1100" spc="-9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Verdana"/>
                <a:cs typeface="Verdana"/>
              </a:rPr>
              <a:t>by</a:t>
            </a:r>
            <a:r>
              <a:rPr sz="11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64646"/>
                </a:solidFill>
                <a:latin typeface="Verdana"/>
                <a:cs typeface="Verdana"/>
              </a:rPr>
              <a:t>brute</a:t>
            </a:r>
            <a:r>
              <a:rPr sz="11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64646"/>
                </a:solidFill>
                <a:latin typeface="Verdana"/>
                <a:cs typeface="Verdana"/>
              </a:rPr>
              <a:t>force</a:t>
            </a:r>
            <a:endParaRPr sz="1100" dirty="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76361" y="4763769"/>
            <a:ext cx="1174115" cy="374015"/>
            <a:chOff x="7976361" y="4763769"/>
            <a:chExt cx="1174115" cy="374015"/>
          </a:xfrm>
        </p:grpSpPr>
        <p:sp>
          <p:nvSpPr>
            <p:cNvPr id="17" name="object 17"/>
            <p:cNvSpPr/>
            <p:nvPr/>
          </p:nvSpPr>
          <p:spPr>
            <a:xfrm>
              <a:off x="7982711" y="4770119"/>
              <a:ext cx="1161415" cy="361315"/>
            </a:xfrm>
            <a:custGeom>
              <a:avLst/>
              <a:gdLst/>
              <a:ahLst/>
              <a:cxnLst/>
              <a:rect l="l" t="t" r="r" b="b"/>
              <a:pathLst>
                <a:path w="1161415" h="361314">
                  <a:moveTo>
                    <a:pt x="1161288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1161288" y="361187"/>
                  </a:lnTo>
                  <a:lnTo>
                    <a:pt x="1161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82711" y="4770119"/>
              <a:ext cx="1161415" cy="361315"/>
            </a:xfrm>
            <a:custGeom>
              <a:avLst/>
              <a:gdLst/>
              <a:ahLst/>
              <a:cxnLst/>
              <a:rect l="l" t="t" r="r" b="b"/>
              <a:pathLst>
                <a:path w="1161415" h="361314">
                  <a:moveTo>
                    <a:pt x="0" y="361187"/>
                  </a:moveTo>
                  <a:lnTo>
                    <a:pt x="1161288" y="361187"/>
                  </a:lnTo>
                  <a:lnTo>
                    <a:pt x="1161288" y="0"/>
                  </a:lnTo>
                  <a:lnTo>
                    <a:pt x="0" y="0"/>
                  </a:lnTo>
                  <a:lnTo>
                    <a:pt x="0" y="36118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8637" y="831291"/>
            <a:ext cx="1968500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/>
              <a:t>Monoalphabetic</a:t>
            </a:r>
            <a:r>
              <a:rPr sz="1350" spc="155" dirty="0"/>
              <a:t> </a:t>
            </a:r>
            <a:r>
              <a:rPr sz="1350" spc="-10" dirty="0"/>
              <a:t>Cipher</a:t>
            </a:r>
            <a:endParaRPr sz="1350"/>
          </a:p>
        </p:txBody>
      </p:sp>
      <p:sp>
        <p:nvSpPr>
          <p:cNvPr id="3" name="object 3"/>
          <p:cNvSpPr txBox="1"/>
          <p:nvPr/>
        </p:nvSpPr>
        <p:spPr>
          <a:xfrm>
            <a:off x="478637" y="1163828"/>
            <a:ext cx="5013960" cy="269303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spc="-55" dirty="0">
                <a:solidFill>
                  <a:srgbClr val="464646"/>
                </a:solidFill>
                <a:latin typeface="Verdana"/>
                <a:cs typeface="Verdana"/>
              </a:rPr>
              <a:t>Rather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than</a:t>
            </a:r>
            <a:r>
              <a:rPr sz="12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a </a:t>
            </a:r>
            <a:r>
              <a:rPr sz="1200" spc="-25" dirty="0">
                <a:solidFill>
                  <a:srgbClr val="464646"/>
                </a:solidFill>
                <a:latin typeface="Verdana"/>
                <a:cs typeface="Verdana"/>
              </a:rPr>
              <a:t>fixed</a:t>
            </a:r>
            <a:r>
              <a:rPr sz="1200" spc="-11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shift,</a:t>
            </a:r>
            <a:r>
              <a:rPr sz="12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646"/>
                </a:solidFill>
                <a:latin typeface="Verdana"/>
                <a:cs typeface="Verdana"/>
              </a:rPr>
              <a:t>each</a:t>
            </a:r>
            <a:r>
              <a:rPr sz="1200" spc="-9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464646"/>
                </a:solidFill>
                <a:latin typeface="Verdana"/>
                <a:cs typeface="Verdana"/>
              </a:rPr>
              <a:t>letter</a:t>
            </a:r>
            <a:r>
              <a:rPr sz="12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maps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to</a:t>
            </a:r>
            <a:r>
              <a:rPr sz="12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unique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substitute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from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a </a:t>
            </a:r>
            <a:r>
              <a:rPr sz="1200" spc="-30" dirty="0">
                <a:solidFill>
                  <a:srgbClr val="464646"/>
                </a:solidFill>
                <a:latin typeface="Verdana"/>
                <a:cs typeface="Verdana"/>
              </a:rPr>
              <a:t>scrambled</a:t>
            </a:r>
            <a:r>
              <a:rPr sz="12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alphabet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646"/>
                </a:solidFill>
                <a:latin typeface="Verdana"/>
                <a:cs typeface="Verdana"/>
              </a:rPr>
              <a:t>—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dramatically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expanding</a:t>
            </a:r>
            <a:r>
              <a:rPr sz="1200" spc="-8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key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space.</a:t>
            </a:r>
            <a:endParaRPr sz="1200">
              <a:latin typeface="Verdana"/>
              <a:cs typeface="Verdana"/>
            </a:endParaRPr>
          </a:p>
          <a:p>
            <a:pPr marL="17145">
              <a:lnSpc>
                <a:spcPct val="100000"/>
              </a:lnSpc>
              <a:spcBef>
                <a:spcPts val="1360"/>
              </a:spcBef>
            </a:pPr>
            <a:r>
              <a:rPr sz="1200" b="1" dirty="0">
                <a:solidFill>
                  <a:srgbClr val="030303"/>
                </a:solidFill>
                <a:latin typeface="Arial"/>
                <a:cs typeface="Arial"/>
              </a:rPr>
              <a:t>Example</a:t>
            </a:r>
            <a:r>
              <a:rPr sz="1200" b="1" spc="-6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30303"/>
                </a:solidFill>
                <a:latin typeface="Arial"/>
                <a:cs typeface="Arial"/>
              </a:rPr>
              <a:t>Substitution</a:t>
            </a:r>
            <a:endParaRPr sz="12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590"/>
              </a:spcBef>
              <a:tabLst>
                <a:tab pos="607695" algn="l"/>
              </a:tabLst>
            </a:pPr>
            <a:r>
              <a:rPr sz="1200" b="1" spc="-10" dirty="0">
                <a:solidFill>
                  <a:srgbClr val="464646"/>
                </a:solidFill>
                <a:latin typeface="Tahoma"/>
                <a:cs typeface="Tahoma"/>
              </a:rPr>
              <a:t>Plain:</a:t>
            </a:r>
            <a:r>
              <a:rPr sz="1200" b="1" dirty="0">
                <a:solidFill>
                  <a:srgbClr val="464646"/>
                </a:solidFill>
                <a:latin typeface="Tahoma"/>
                <a:cs typeface="Tahoma"/>
              </a:rPr>
              <a:t>	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ABCDEFGHIJKLMNOPQRSTUVWXYZ</a:t>
            </a:r>
            <a:endParaRPr sz="1200">
              <a:latin typeface="Verdana"/>
              <a:cs typeface="Verdana"/>
            </a:endParaRPr>
          </a:p>
          <a:p>
            <a:pPr marL="26670">
              <a:lnSpc>
                <a:spcPct val="100000"/>
              </a:lnSpc>
            </a:pPr>
            <a:r>
              <a:rPr sz="1200" b="1" dirty="0">
                <a:solidFill>
                  <a:srgbClr val="464646"/>
                </a:solidFill>
                <a:latin typeface="Tahoma"/>
                <a:cs typeface="Tahoma"/>
              </a:rPr>
              <a:t>Cipher:</a:t>
            </a:r>
            <a:r>
              <a:rPr sz="1200" b="1" spc="-90" dirty="0">
                <a:solidFill>
                  <a:srgbClr val="464646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QWERTYUIOPASDFGHJKLZXCVBNM</a:t>
            </a:r>
            <a:endParaRPr sz="1200">
              <a:latin typeface="Verdana"/>
              <a:cs typeface="Verdana"/>
            </a:endParaRPr>
          </a:p>
          <a:p>
            <a:pPr marL="17145">
              <a:lnSpc>
                <a:spcPct val="100000"/>
              </a:lnSpc>
              <a:spcBef>
                <a:spcPts val="630"/>
              </a:spcBef>
            </a:pPr>
            <a:r>
              <a:rPr sz="1200" b="1" spc="-10" dirty="0">
                <a:solidFill>
                  <a:srgbClr val="030303"/>
                </a:solidFill>
                <a:latin typeface="Arial"/>
                <a:cs typeface="Arial"/>
              </a:rPr>
              <a:t>Advantages</a:t>
            </a:r>
            <a:endParaRPr sz="1200">
              <a:latin typeface="Arial"/>
              <a:cs typeface="Arial"/>
            </a:endParaRPr>
          </a:p>
          <a:p>
            <a:pPr marL="137160" indent="-110489">
              <a:lnSpc>
                <a:spcPct val="100000"/>
              </a:lnSpc>
              <a:spcBef>
                <a:spcPts val="1230"/>
              </a:spcBef>
              <a:buChar char="•"/>
              <a:tabLst>
                <a:tab pos="137160" algn="l"/>
              </a:tabLst>
            </a:pPr>
            <a:r>
              <a:rPr sz="1200" spc="-30" dirty="0">
                <a:solidFill>
                  <a:srgbClr val="464646"/>
                </a:solidFill>
                <a:latin typeface="Verdana"/>
                <a:cs typeface="Verdana"/>
              </a:rPr>
              <a:t>Vastly</a:t>
            </a:r>
            <a:r>
              <a:rPr sz="12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larger</a:t>
            </a:r>
            <a:r>
              <a:rPr sz="1200" spc="-9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key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space</a:t>
            </a:r>
            <a:r>
              <a:rPr sz="12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464646"/>
                </a:solidFill>
                <a:latin typeface="Verdana"/>
                <a:cs typeface="Verdana"/>
              </a:rPr>
              <a:t>than</a:t>
            </a:r>
            <a:r>
              <a:rPr sz="12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Caesar</a:t>
            </a:r>
            <a:endParaRPr sz="1200">
              <a:latin typeface="Verdana"/>
              <a:cs typeface="Verdana"/>
            </a:endParaRPr>
          </a:p>
          <a:p>
            <a:pPr marL="137160" indent="-110489">
              <a:lnSpc>
                <a:spcPct val="100000"/>
              </a:lnSpc>
              <a:buChar char="•"/>
              <a:tabLst>
                <a:tab pos="137160" algn="l"/>
              </a:tabLst>
            </a:pPr>
            <a:r>
              <a:rPr sz="1200" spc="-55" dirty="0">
                <a:solidFill>
                  <a:srgbClr val="464646"/>
                </a:solidFill>
                <a:latin typeface="Verdana"/>
                <a:cs typeface="Verdana"/>
              </a:rPr>
              <a:t>Brute</a:t>
            </a:r>
            <a:r>
              <a:rPr sz="120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646"/>
                </a:solidFill>
                <a:latin typeface="Verdana"/>
                <a:cs typeface="Verdana"/>
              </a:rPr>
              <a:t>force</a:t>
            </a:r>
            <a:r>
              <a:rPr sz="1200" spc="-7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attacks</a:t>
            </a:r>
            <a:r>
              <a:rPr sz="12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464646"/>
                </a:solidFill>
                <a:latin typeface="Verdana"/>
                <a:cs typeface="Verdana"/>
              </a:rPr>
              <a:t>become</a:t>
            </a:r>
            <a:r>
              <a:rPr sz="1200" spc="-10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impractical</a:t>
            </a:r>
            <a:endParaRPr sz="1200">
              <a:latin typeface="Verdana"/>
              <a:cs typeface="Verdana"/>
            </a:endParaRPr>
          </a:p>
          <a:p>
            <a:pPr marL="17145">
              <a:lnSpc>
                <a:spcPct val="100000"/>
              </a:lnSpc>
              <a:spcBef>
                <a:spcPts val="805"/>
              </a:spcBef>
            </a:pPr>
            <a:r>
              <a:rPr sz="1200" b="1" spc="-10" dirty="0">
                <a:solidFill>
                  <a:srgbClr val="030303"/>
                </a:solidFill>
                <a:latin typeface="Arial"/>
                <a:cs typeface="Arial"/>
              </a:rPr>
              <a:t>Limitations</a:t>
            </a:r>
            <a:endParaRPr sz="1200">
              <a:latin typeface="Arial"/>
              <a:cs typeface="Arial"/>
            </a:endParaRPr>
          </a:p>
          <a:p>
            <a:pPr marL="137795" indent="-111125">
              <a:lnSpc>
                <a:spcPct val="100000"/>
              </a:lnSpc>
              <a:spcBef>
                <a:spcPts val="525"/>
              </a:spcBef>
              <a:buChar char="•"/>
              <a:tabLst>
                <a:tab pos="137795" algn="l"/>
              </a:tabLst>
            </a:pP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Vulnerable</a:t>
            </a:r>
            <a:r>
              <a:rPr sz="1200" spc="-7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to</a:t>
            </a:r>
            <a:r>
              <a:rPr sz="12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464646"/>
                </a:solidFill>
                <a:latin typeface="Tahoma"/>
                <a:cs typeface="Tahoma"/>
              </a:rPr>
              <a:t>frequency</a:t>
            </a:r>
            <a:r>
              <a:rPr sz="1200" b="1" spc="-45" dirty="0">
                <a:solidFill>
                  <a:srgbClr val="464646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464646"/>
                </a:solidFill>
                <a:latin typeface="Tahoma"/>
                <a:cs typeface="Tahoma"/>
              </a:rPr>
              <a:t>analysis</a:t>
            </a:r>
            <a:endParaRPr sz="1200">
              <a:latin typeface="Tahoma"/>
              <a:cs typeface="Tahoma"/>
            </a:endParaRPr>
          </a:p>
          <a:p>
            <a:pPr marL="137160" indent="-110489">
              <a:lnSpc>
                <a:spcPct val="100000"/>
              </a:lnSpc>
              <a:spcBef>
                <a:spcPts val="5"/>
              </a:spcBef>
              <a:buChar char="•"/>
              <a:tabLst>
                <a:tab pos="137160" algn="l"/>
              </a:tabLst>
            </a:pP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Letter</a:t>
            </a:r>
            <a:r>
              <a:rPr sz="12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patterns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464646"/>
                </a:solidFill>
                <a:latin typeface="Verdana"/>
                <a:cs typeface="Verdana"/>
              </a:rPr>
              <a:t>remain</a:t>
            </a:r>
            <a:r>
              <a:rPr sz="12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464646"/>
                </a:solidFill>
                <a:latin typeface="Verdana"/>
                <a:cs typeface="Verdana"/>
              </a:rPr>
              <a:t>statistically </a:t>
            </a:r>
            <a:r>
              <a:rPr sz="1200" spc="-10" dirty="0">
                <a:solidFill>
                  <a:srgbClr val="464646"/>
                </a:solidFill>
                <a:latin typeface="Verdana"/>
                <a:cs typeface="Verdana"/>
              </a:rPr>
              <a:t>visible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63440" y="847344"/>
            <a:ext cx="4486910" cy="4293870"/>
            <a:chOff x="4663440" y="847344"/>
            <a:chExt cx="4486910" cy="4293870"/>
          </a:xfrm>
        </p:grpSpPr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3440" y="847344"/>
              <a:ext cx="3989832" cy="39883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82711" y="4855463"/>
              <a:ext cx="1161415" cy="279400"/>
            </a:xfrm>
            <a:custGeom>
              <a:avLst/>
              <a:gdLst/>
              <a:ahLst/>
              <a:cxnLst/>
              <a:rect l="l" t="t" r="r" b="b"/>
              <a:pathLst>
                <a:path w="1161415" h="279400">
                  <a:moveTo>
                    <a:pt x="1161288" y="0"/>
                  </a:moveTo>
                  <a:lnTo>
                    <a:pt x="0" y="0"/>
                  </a:lnTo>
                  <a:lnTo>
                    <a:pt x="0" y="278891"/>
                  </a:lnTo>
                  <a:lnTo>
                    <a:pt x="1161288" y="278891"/>
                  </a:lnTo>
                  <a:lnTo>
                    <a:pt x="1161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82711" y="4855463"/>
              <a:ext cx="1161415" cy="279400"/>
            </a:xfrm>
            <a:custGeom>
              <a:avLst/>
              <a:gdLst/>
              <a:ahLst/>
              <a:cxnLst/>
              <a:rect l="l" t="t" r="r" b="b"/>
              <a:pathLst>
                <a:path w="1161415" h="279400">
                  <a:moveTo>
                    <a:pt x="0" y="278891"/>
                  </a:moveTo>
                  <a:lnTo>
                    <a:pt x="1161288" y="278891"/>
                  </a:lnTo>
                  <a:lnTo>
                    <a:pt x="1161288" y="0"/>
                  </a:lnTo>
                  <a:lnTo>
                    <a:pt x="0" y="0"/>
                  </a:lnTo>
                  <a:lnTo>
                    <a:pt x="0" y="27889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/>
              <a:t>Vigenère</a:t>
            </a:r>
            <a:r>
              <a:rPr sz="2300" spc="110" dirty="0"/>
              <a:t> </a:t>
            </a:r>
            <a:r>
              <a:rPr sz="2300" spc="-10" dirty="0"/>
              <a:t>Cipher</a:t>
            </a:r>
            <a:endParaRPr sz="2300"/>
          </a:p>
        </p:txBody>
      </p:sp>
      <p:sp>
        <p:nvSpPr>
          <p:cNvPr id="6" name="object 6"/>
          <p:cNvSpPr/>
          <p:nvPr/>
        </p:nvSpPr>
        <p:spPr>
          <a:xfrm>
            <a:off x="496823" y="976883"/>
            <a:ext cx="1694814" cy="178435"/>
          </a:xfrm>
          <a:custGeom>
            <a:avLst/>
            <a:gdLst/>
            <a:ahLst/>
            <a:cxnLst/>
            <a:rect l="l" t="t" r="r" b="b"/>
            <a:pathLst>
              <a:path w="1694814" h="178434">
                <a:moveTo>
                  <a:pt x="1688338" y="0"/>
                </a:moveTo>
                <a:lnTo>
                  <a:pt x="6299" y="0"/>
                </a:lnTo>
                <a:lnTo>
                  <a:pt x="0" y="6350"/>
                </a:lnTo>
                <a:lnTo>
                  <a:pt x="0" y="14096"/>
                </a:lnTo>
                <a:lnTo>
                  <a:pt x="0" y="171957"/>
                </a:lnTo>
                <a:lnTo>
                  <a:pt x="6299" y="178307"/>
                </a:lnTo>
                <a:lnTo>
                  <a:pt x="1688338" y="178307"/>
                </a:lnTo>
                <a:lnTo>
                  <a:pt x="1694688" y="171957"/>
                </a:lnTo>
                <a:lnTo>
                  <a:pt x="1694688" y="6350"/>
                </a:lnTo>
                <a:lnTo>
                  <a:pt x="1688338" y="0"/>
                </a:lnTo>
                <a:close/>
              </a:path>
            </a:pathLst>
          </a:custGeom>
          <a:solidFill>
            <a:srgbClr val="D3F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3514" y="989837"/>
            <a:ext cx="7995284" cy="434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464646"/>
                </a:solidFill>
                <a:latin typeface="Verdana"/>
                <a:cs typeface="Verdana"/>
              </a:rPr>
              <a:t>POLYALPHABETIC</a:t>
            </a:r>
            <a:r>
              <a:rPr sz="700" spc="-1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700" spc="-10" dirty="0">
                <a:solidFill>
                  <a:srgbClr val="464646"/>
                </a:solidFill>
                <a:latin typeface="Verdana"/>
                <a:cs typeface="Verdana"/>
              </a:rPr>
              <a:t>SUBSTITUTION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Invented</a:t>
            </a:r>
            <a:r>
              <a:rPr sz="9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64646"/>
                </a:solidFill>
                <a:latin typeface="Verdana"/>
                <a:cs typeface="Verdana"/>
              </a:rPr>
              <a:t>by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Blaise</a:t>
            </a:r>
            <a:r>
              <a:rPr sz="9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64646"/>
                </a:solidFill>
                <a:latin typeface="Verdana"/>
                <a:cs typeface="Verdana"/>
              </a:rPr>
              <a:t>de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Vigenère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in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r>
              <a:rPr sz="9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80" dirty="0">
                <a:solidFill>
                  <a:srgbClr val="464646"/>
                </a:solidFill>
                <a:latin typeface="Verdana"/>
                <a:cs typeface="Verdana"/>
              </a:rPr>
              <a:t>16th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century.</a:t>
            </a:r>
            <a:r>
              <a:rPr sz="9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keyword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 determines</a:t>
            </a:r>
            <a:r>
              <a:rPr sz="9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which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shift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to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apply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at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each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position </a:t>
            </a:r>
            <a:r>
              <a:rPr sz="900" dirty="0">
                <a:solidFill>
                  <a:srgbClr val="464646"/>
                </a:solidFill>
                <a:latin typeface="Verdana"/>
                <a:cs typeface="Verdana"/>
              </a:rPr>
              <a:t>—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multiple</a:t>
            </a:r>
            <a:r>
              <a:rPr sz="9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alphabets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in</a:t>
            </a:r>
            <a:r>
              <a:rPr sz="9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one</a:t>
            </a:r>
            <a:r>
              <a:rPr sz="900" spc="-6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cipher.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514" y="1792604"/>
            <a:ext cx="3547745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030303"/>
                </a:solidFill>
                <a:latin typeface="Arial"/>
                <a:cs typeface="Arial"/>
              </a:rPr>
              <a:t>Working</a:t>
            </a:r>
            <a:r>
              <a:rPr sz="1150" b="1" spc="-5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030303"/>
                </a:solidFill>
                <a:latin typeface="Arial"/>
                <a:cs typeface="Arial"/>
              </a:rPr>
              <a:t>Principle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Each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 letter</a:t>
            </a:r>
            <a:r>
              <a:rPr sz="9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64646"/>
                </a:solidFill>
                <a:latin typeface="Verdana"/>
                <a:cs typeface="Verdana"/>
              </a:rPr>
              <a:t>of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r>
              <a:rPr sz="9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keyword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specifies</a:t>
            </a:r>
            <a:r>
              <a:rPr sz="900" spc="-1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different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64646"/>
                </a:solidFill>
                <a:latin typeface="Verdana"/>
                <a:cs typeface="Verdana"/>
              </a:rPr>
              <a:t>Caesar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shift.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keyword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repeats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across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message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length.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8016" y="1792604"/>
            <a:ext cx="123253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030303"/>
                </a:solidFill>
                <a:latin typeface="Arial"/>
                <a:cs typeface="Arial"/>
              </a:rPr>
              <a:t>Why</a:t>
            </a:r>
            <a:r>
              <a:rPr sz="1150" b="1" spc="-3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030303"/>
                </a:solidFill>
                <a:latin typeface="Arial"/>
                <a:cs typeface="Arial"/>
              </a:rPr>
              <a:t>It's</a:t>
            </a:r>
            <a:r>
              <a:rPr sz="1150" b="1" spc="-10" dirty="0">
                <a:solidFill>
                  <a:srgbClr val="030303"/>
                </a:solidFill>
                <a:latin typeface="Arial"/>
                <a:cs typeface="Arial"/>
              </a:rPr>
              <a:t> Stronger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08929" y="2095366"/>
            <a:ext cx="3956685" cy="910590"/>
            <a:chOff x="4708929" y="2095366"/>
            <a:chExt cx="3956685" cy="910590"/>
          </a:xfrm>
        </p:grpSpPr>
        <p:sp>
          <p:nvSpPr>
            <p:cNvPr id="13" name="object 13"/>
            <p:cNvSpPr/>
            <p:nvPr/>
          </p:nvSpPr>
          <p:spPr>
            <a:xfrm>
              <a:off x="4758099" y="2109511"/>
              <a:ext cx="3893185" cy="882015"/>
            </a:xfrm>
            <a:custGeom>
              <a:avLst/>
              <a:gdLst/>
              <a:ahLst/>
              <a:cxnLst/>
              <a:rect l="l" t="t" r="r" b="b"/>
              <a:pathLst>
                <a:path w="3893184" h="882014">
                  <a:moveTo>
                    <a:pt x="0" y="4545"/>
                  </a:moveTo>
                  <a:lnTo>
                    <a:pt x="335" y="4370"/>
                  </a:lnTo>
                </a:path>
                <a:path w="3893184" h="882014">
                  <a:moveTo>
                    <a:pt x="22161" y="0"/>
                  </a:moveTo>
                  <a:lnTo>
                    <a:pt x="3878425" y="0"/>
                  </a:lnTo>
                </a:path>
                <a:path w="3893184" h="882014">
                  <a:moveTo>
                    <a:pt x="3893088" y="14537"/>
                  </a:moveTo>
                  <a:lnTo>
                    <a:pt x="3893089" y="867170"/>
                  </a:lnTo>
                </a:path>
                <a:path w="3893184" h="882014">
                  <a:moveTo>
                    <a:pt x="3878426" y="881698"/>
                  </a:moveTo>
                  <a:lnTo>
                    <a:pt x="22161" y="881698"/>
                  </a:lnTo>
                </a:path>
              </a:pathLst>
            </a:custGeom>
            <a:ln w="28411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16062" y="2166090"/>
              <a:ext cx="0" cy="768985"/>
            </a:xfrm>
            <a:custGeom>
              <a:avLst/>
              <a:gdLst/>
              <a:ahLst/>
              <a:cxnLst/>
              <a:rect l="l" t="t" r="r" b="b"/>
              <a:pathLst>
                <a:path h="768985">
                  <a:moveTo>
                    <a:pt x="0" y="0"/>
                  </a:moveTo>
                  <a:lnTo>
                    <a:pt x="0" y="768540"/>
                  </a:lnTo>
                </a:path>
              </a:pathLst>
            </a:custGeom>
            <a:ln w="14266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27602" y="214409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357"/>
                  </a:moveTo>
                  <a:lnTo>
                    <a:pt x="123" y="0"/>
                  </a:lnTo>
                </a:path>
              </a:pathLst>
            </a:custGeom>
            <a:ln w="28532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23193" y="2109203"/>
              <a:ext cx="57150" cy="882015"/>
            </a:xfrm>
            <a:custGeom>
              <a:avLst/>
              <a:gdLst/>
              <a:ahLst/>
              <a:cxnLst/>
              <a:rect l="l" t="t" r="r" b="b"/>
              <a:pathLst>
                <a:path w="57150" h="882014">
                  <a:moveTo>
                    <a:pt x="57061" y="0"/>
                  </a:moveTo>
                  <a:lnTo>
                    <a:pt x="3695" y="0"/>
                  </a:lnTo>
                  <a:lnTo>
                    <a:pt x="3695" y="6324"/>
                  </a:lnTo>
                  <a:lnTo>
                    <a:pt x="0" y="6324"/>
                  </a:lnTo>
                  <a:lnTo>
                    <a:pt x="0" y="875080"/>
                  </a:lnTo>
                  <a:lnTo>
                    <a:pt x="2755" y="875080"/>
                  </a:lnTo>
                  <a:lnTo>
                    <a:pt x="2755" y="881405"/>
                  </a:lnTo>
                  <a:lnTo>
                    <a:pt x="57061" y="881405"/>
                  </a:lnTo>
                  <a:lnTo>
                    <a:pt x="57061" y="875080"/>
                  </a:lnTo>
                  <a:lnTo>
                    <a:pt x="57061" y="6324"/>
                  </a:lnTo>
                  <a:lnTo>
                    <a:pt x="57061" y="0"/>
                  </a:lnTo>
                  <a:close/>
                </a:path>
              </a:pathLst>
            </a:custGeom>
            <a:solidFill>
              <a:srgbClr val="1C96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80261" y="2216911"/>
            <a:ext cx="3856990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464646"/>
                </a:solidFill>
                <a:latin typeface="Arial"/>
                <a:cs typeface="Arial"/>
              </a:rPr>
              <a:t>Multiple</a:t>
            </a:r>
            <a:r>
              <a:rPr sz="1150" b="1" spc="-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464646"/>
                </a:solidFill>
                <a:latin typeface="Arial"/>
                <a:cs typeface="Arial"/>
              </a:rPr>
              <a:t>Shift</a:t>
            </a:r>
            <a:r>
              <a:rPr sz="1150" b="1" spc="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464646"/>
                </a:solidFill>
                <a:latin typeface="Arial"/>
                <a:cs typeface="Arial"/>
              </a:rPr>
              <a:t>Patterns</a:t>
            </a:r>
            <a:endParaRPr sz="1150">
              <a:latin typeface="Arial"/>
              <a:cs typeface="Arial"/>
            </a:endParaRPr>
          </a:p>
          <a:p>
            <a:pPr marL="128905" marR="317500">
              <a:lnSpc>
                <a:spcPct val="122200"/>
              </a:lnSpc>
              <a:spcBef>
                <a:spcPts val="745"/>
              </a:spcBef>
            </a:pP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r>
              <a:rPr sz="9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same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 plaintext letter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encrypts</a:t>
            </a:r>
            <a:r>
              <a:rPr sz="900" spc="-1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differently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depending</a:t>
            </a:r>
            <a:r>
              <a:rPr sz="90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on</a:t>
            </a:r>
            <a:r>
              <a:rPr sz="9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its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position.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7586" y="2547366"/>
            <a:ext cx="3931920" cy="1428115"/>
          </a:xfrm>
          <a:custGeom>
            <a:avLst/>
            <a:gdLst/>
            <a:ahLst/>
            <a:cxnLst/>
            <a:rect l="l" t="t" r="r" b="b"/>
            <a:pathLst>
              <a:path w="3931920" h="1428114">
                <a:moveTo>
                  <a:pt x="0" y="17652"/>
                </a:moveTo>
                <a:lnTo>
                  <a:pt x="0" y="7873"/>
                </a:lnTo>
                <a:lnTo>
                  <a:pt x="7886" y="0"/>
                </a:lnTo>
                <a:lnTo>
                  <a:pt x="17627" y="0"/>
                </a:lnTo>
                <a:lnTo>
                  <a:pt x="3914266" y="0"/>
                </a:lnTo>
                <a:lnTo>
                  <a:pt x="3924046" y="0"/>
                </a:lnTo>
                <a:lnTo>
                  <a:pt x="3931919" y="7873"/>
                </a:lnTo>
                <a:lnTo>
                  <a:pt x="3931919" y="17652"/>
                </a:lnTo>
                <a:lnTo>
                  <a:pt x="3931919" y="1410360"/>
                </a:lnTo>
                <a:lnTo>
                  <a:pt x="3931919" y="1420101"/>
                </a:lnTo>
                <a:lnTo>
                  <a:pt x="3924046" y="1427987"/>
                </a:lnTo>
                <a:lnTo>
                  <a:pt x="3914266" y="1427987"/>
                </a:lnTo>
                <a:lnTo>
                  <a:pt x="17627" y="1427987"/>
                </a:lnTo>
                <a:lnTo>
                  <a:pt x="7886" y="1427987"/>
                </a:lnTo>
                <a:lnTo>
                  <a:pt x="0" y="1420101"/>
                </a:lnTo>
                <a:lnTo>
                  <a:pt x="0" y="1410360"/>
                </a:lnTo>
                <a:lnTo>
                  <a:pt x="0" y="17652"/>
                </a:lnTo>
                <a:close/>
              </a:path>
            </a:pathLst>
          </a:custGeom>
          <a:ln w="4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97586" y="2547366"/>
          <a:ext cx="3933189" cy="14268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b="1" spc="-1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Plainte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b="1" spc="-25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xt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H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L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L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marL="120650" marR="146050">
                        <a:lnSpc>
                          <a:spcPct val="122200"/>
                        </a:lnSpc>
                        <a:spcBef>
                          <a:spcPts val="335"/>
                        </a:spcBef>
                      </a:pPr>
                      <a:r>
                        <a:rPr sz="900" b="1" spc="-2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Keywo </a:t>
                      </a:r>
                      <a:r>
                        <a:rPr sz="900" b="1" spc="-25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spc="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Y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marL="120650" marR="117475">
                        <a:lnSpc>
                          <a:spcPct val="122200"/>
                        </a:lnSpc>
                        <a:spcBef>
                          <a:spcPts val="340"/>
                        </a:spcBef>
                      </a:pPr>
                      <a:r>
                        <a:rPr sz="900" b="1" spc="-2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Ciphert </a:t>
                      </a:r>
                      <a:r>
                        <a:rPr sz="900" b="1" spc="-25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ext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R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I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spc="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V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spc="-5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4708930" y="3079898"/>
            <a:ext cx="3956685" cy="739140"/>
            <a:chOff x="4708930" y="3079898"/>
            <a:chExt cx="3956685" cy="739140"/>
          </a:xfrm>
        </p:grpSpPr>
        <p:sp>
          <p:nvSpPr>
            <p:cNvPr id="19" name="object 19"/>
            <p:cNvSpPr/>
            <p:nvPr/>
          </p:nvSpPr>
          <p:spPr>
            <a:xfrm>
              <a:off x="4758100" y="3094020"/>
              <a:ext cx="3893185" cy="711200"/>
            </a:xfrm>
            <a:custGeom>
              <a:avLst/>
              <a:gdLst/>
              <a:ahLst/>
              <a:cxnLst/>
              <a:rect l="l" t="t" r="r" b="b"/>
              <a:pathLst>
                <a:path w="3893184" h="711200">
                  <a:moveTo>
                    <a:pt x="0" y="4538"/>
                  </a:moveTo>
                  <a:lnTo>
                    <a:pt x="335" y="4363"/>
                  </a:lnTo>
                </a:path>
                <a:path w="3893184" h="711200">
                  <a:moveTo>
                    <a:pt x="22161" y="0"/>
                  </a:moveTo>
                  <a:lnTo>
                    <a:pt x="3878426" y="0"/>
                  </a:lnTo>
                </a:path>
                <a:path w="3893184" h="711200">
                  <a:moveTo>
                    <a:pt x="3893089" y="14514"/>
                  </a:moveTo>
                  <a:lnTo>
                    <a:pt x="3893089" y="696300"/>
                  </a:lnTo>
                </a:path>
                <a:path w="3893184" h="711200">
                  <a:moveTo>
                    <a:pt x="3878426" y="710805"/>
                  </a:moveTo>
                  <a:lnTo>
                    <a:pt x="22161" y="710805"/>
                  </a:lnTo>
                </a:path>
              </a:pathLst>
            </a:custGeom>
            <a:ln w="28388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16063" y="3150508"/>
              <a:ext cx="0" cy="598170"/>
            </a:xfrm>
            <a:custGeom>
              <a:avLst/>
              <a:gdLst/>
              <a:ahLst/>
              <a:cxnLst/>
              <a:rect l="l" t="t" r="r" b="b"/>
              <a:pathLst>
                <a:path h="598170">
                  <a:moveTo>
                    <a:pt x="0" y="0"/>
                  </a:moveTo>
                  <a:lnTo>
                    <a:pt x="0" y="597828"/>
                  </a:lnTo>
                </a:path>
              </a:pathLst>
            </a:custGeom>
            <a:ln w="14266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27603" y="3128550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356"/>
                  </a:moveTo>
                  <a:lnTo>
                    <a:pt x="123" y="0"/>
                  </a:lnTo>
                </a:path>
              </a:pathLst>
            </a:custGeom>
            <a:ln w="28532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23193" y="3094316"/>
              <a:ext cx="57150" cy="710565"/>
            </a:xfrm>
            <a:custGeom>
              <a:avLst/>
              <a:gdLst/>
              <a:ahLst/>
              <a:cxnLst/>
              <a:rect l="l" t="t" r="r" b="b"/>
              <a:pathLst>
                <a:path w="57150" h="710564">
                  <a:moveTo>
                    <a:pt x="57061" y="0"/>
                  </a:moveTo>
                  <a:lnTo>
                    <a:pt x="3060" y="0"/>
                  </a:lnTo>
                  <a:lnTo>
                    <a:pt x="3060" y="6311"/>
                  </a:lnTo>
                  <a:lnTo>
                    <a:pt x="0" y="6311"/>
                  </a:lnTo>
                  <a:lnTo>
                    <a:pt x="0" y="703795"/>
                  </a:lnTo>
                  <a:lnTo>
                    <a:pt x="2959" y="703795"/>
                  </a:lnTo>
                  <a:lnTo>
                    <a:pt x="2959" y="710120"/>
                  </a:lnTo>
                  <a:lnTo>
                    <a:pt x="57061" y="710120"/>
                  </a:lnTo>
                  <a:lnTo>
                    <a:pt x="57061" y="703795"/>
                  </a:lnTo>
                  <a:lnTo>
                    <a:pt x="57061" y="6311"/>
                  </a:lnTo>
                  <a:lnTo>
                    <a:pt x="57061" y="0"/>
                  </a:lnTo>
                  <a:close/>
                </a:path>
              </a:pathLst>
            </a:custGeom>
            <a:solidFill>
              <a:srgbClr val="1C96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80261" y="3201669"/>
            <a:ext cx="3856990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1150" b="1" spc="-20" dirty="0">
                <a:solidFill>
                  <a:srgbClr val="464646"/>
                </a:solidFill>
                <a:latin typeface="Arial"/>
                <a:cs typeface="Arial"/>
              </a:rPr>
              <a:t>Resists</a:t>
            </a:r>
            <a:r>
              <a:rPr sz="1150" b="1" spc="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464646"/>
                </a:solidFill>
                <a:latin typeface="Arial"/>
                <a:cs typeface="Arial"/>
              </a:rPr>
              <a:t>Frequency</a:t>
            </a:r>
            <a:r>
              <a:rPr sz="1150" b="1" spc="1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464646"/>
                </a:solidFill>
                <a:latin typeface="Arial"/>
                <a:cs typeface="Arial"/>
              </a:rPr>
              <a:t>Analysis</a:t>
            </a:r>
            <a:endParaRPr sz="1150">
              <a:latin typeface="Arial"/>
              <a:cs typeface="Arial"/>
            </a:endParaRPr>
          </a:p>
          <a:p>
            <a:pPr marL="128905">
              <a:lnSpc>
                <a:spcPct val="100000"/>
              </a:lnSpc>
              <a:spcBef>
                <a:spcPts val="985"/>
              </a:spcBef>
            </a:pP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Letter </a:t>
            </a:r>
            <a:r>
              <a:rPr sz="900" spc="-20" dirty="0">
                <a:solidFill>
                  <a:srgbClr val="464646"/>
                </a:solidFill>
                <a:latin typeface="Verdana"/>
                <a:cs typeface="Verdana"/>
              </a:rPr>
              <a:t>frequencies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are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flattened</a:t>
            </a:r>
            <a:r>
              <a:rPr sz="900" spc="-6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across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the</a:t>
            </a:r>
            <a:r>
              <a:rPr sz="90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ciphertext.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08929" y="3892190"/>
            <a:ext cx="3956685" cy="739140"/>
            <a:chOff x="4708929" y="3892190"/>
            <a:chExt cx="3956685" cy="739140"/>
          </a:xfrm>
        </p:grpSpPr>
        <p:sp>
          <p:nvSpPr>
            <p:cNvPr id="25" name="object 25"/>
            <p:cNvSpPr/>
            <p:nvPr/>
          </p:nvSpPr>
          <p:spPr>
            <a:xfrm>
              <a:off x="4758099" y="3906312"/>
              <a:ext cx="3893185" cy="711200"/>
            </a:xfrm>
            <a:custGeom>
              <a:avLst/>
              <a:gdLst/>
              <a:ahLst/>
              <a:cxnLst/>
              <a:rect l="l" t="t" r="r" b="b"/>
              <a:pathLst>
                <a:path w="3893184" h="711200">
                  <a:moveTo>
                    <a:pt x="0" y="4538"/>
                  </a:moveTo>
                  <a:lnTo>
                    <a:pt x="335" y="4363"/>
                  </a:lnTo>
                </a:path>
                <a:path w="3893184" h="711200">
                  <a:moveTo>
                    <a:pt x="22161" y="0"/>
                  </a:moveTo>
                  <a:lnTo>
                    <a:pt x="3878426" y="0"/>
                  </a:lnTo>
                </a:path>
                <a:path w="3893184" h="711200">
                  <a:moveTo>
                    <a:pt x="3893089" y="14514"/>
                  </a:moveTo>
                  <a:lnTo>
                    <a:pt x="3893089" y="696300"/>
                  </a:lnTo>
                </a:path>
                <a:path w="3893184" h="711200">
                  <a:moveTo>
                    <a:pt x="3878426" y="710805"/>
                  </a:moveTo>
                  <a:lnTo>
                    <a:pt x="22161" y="710805"/>
                  </a:lnTo>
                </a:path>
              </a:pathLst>
            </a:custGeom>
            <a:ln w="28388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16062" y="3962800"/>
              <a:ext cx="0" cy="598170"/>
            </a:xfrm>
            <a:custGeom>
              <a:avLst/>
              <a:gdLst/>
              <a:ahLst/>
              <a:cxnLst/>
              <a:rect l="l" t="t" r="r" b="b"/>
              <a:pathLst>
                <a:path h="598170">
                  <a:moveTo>
                    <a:pt x="0" y="0"/>
                  </a:moveTo>
                  <a:lnTo>
                    <a:pt x="0" y="597828"/>
                  </a:lnTo>
                </a:path>
              </a:pathLst>
            </a:custGeom>
            <a:ln w="14266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27602" y="394084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356"/>
                  </a:moveTo>
                  <a:lnTo>
                    <a:pt x="123" y="0"/>
                  </a:lnTo>
                </a:path>
              </a:pathLst>
            </a:custGeom>
            <a:ln w="28532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23193" y="3906608"/>
              <a:ext cx="57150" cy="710565"/>
            </a:xfrm>
            <a:custGeom>
              <a:avLst/>
              <a:gdLst/>
              <a:ahLst/>
              <a:cxnLst/>
              <a:rect l="l" t="t" r="r" b="b"/>
              <a:pathLst>
                <a:path w="57150" h="710564">
                  <a:moveTo>
                    <a:pt x="57061" y="0"/>
                  </a:moveTo>
                  <a:lnTo>
                    <a:pt x="3060" y="0"/>
                  </a:lnTo>
                  <a:lnTo>
                    <a:pt x="3060" y="6311"/>
                  </a:lnTo>
                  <a:lnTo>
                    <a:pt x="0" y="6311"/>
                  </a:lnTo>
                  <a:lnTo>
                    <a:pt x="0" y="703795"/>
                  </a:lnTo>
                  <a:lnTo>
                    <a:pt x="2959" y="703795"/>
                  </a:lnTo>
                  <a:lnTo>
                    <a:pt x="2959" y="710120"/>
                  </a:lnTo>
                  <a:lnTo>
                    <a:pt x="57061" y="710120"/>
                  </a:lnTo>
                  <a:lnTo>
                    <a:pt x="57061" y="703795"/>
                  </a:lnTo>
                  <a:lnTo>
                    <a:pt x="57061" y="6311"/>
                  </a:lnTo>
                  <a:lnTo>
                    <a:pt x="57061" y="0"/>
                  </a:lnTo>
                  <a:close/>
                </a:path>
              </a:pathLst>
            </a:custGeom>
            <a:solidFill>
              <a:srgbClr val="1C96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780261" y="4014622"/>
            <a:ext cx="3856990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464646"/>
                </a:solidFill>
                <a:latin typeface="Arial"/>
                <a:cs typeface="Arial"/>
              </a:rPr>
              <a:t>Very</a:t>
            </a:r>
            <a:r>
              <a:rPr sz="1150" b="1" spc="-3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464646"/>
                </a:solidFill>
                <a:latin typeface="Arial"/>
                <a:cs typeface="Arial"/>
              </a:rPr>
              <a:t>Large</a:t>
            </a:r>
            <a:r>
              <a:rPr sz="1150" b="1" spc="-10" dirty="0">
                <a:solidFill>
                  <a:srgbClr val="464646"/>
                </a:solidFill>
                <a:latin typeface="Arial"/>
                <a:cs typeface="Arial"/>
              </a:rPr>
              <a:t> Key</a:t>
            </a:r>
            <a:r>
              <a:rPr sz="1150" b="1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464646"/>
                </a:solidFill>
                <a:latin typeface="Arial"/>
                <a:cs typeface="Arial"/>
              </a:rPr>
              <a:t>Space</a:t>
            </a:r>
            <a:endParaRPr sz="1150">
              <a:latin typeface="Arial"/>
              <a:cs typeface="Arial"/>
            </a:endParaRPr>
          </a:p>
          <a:p>
            <a:pPr marL="128905">
              <a:lnSpc>
                <a:spcPct val="100000"/>
              </a:lnSpc>
              <a:spcBef>
                <a:spcPts val="985"/>
              </a:spcBef>
            </a:pP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Keyword 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length</a:t>
            </a:r>
            <a:r>
              <a:rPr sz="90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and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64646"/>
                </a:solidFill>
                <a:latin typeface="Verdana"/>
                <a:cs typeface="Verdana"/>
              </a:rPr>
              <a:t>content</a:t>
            </a:r>
            <a:r>
              <a:rPr sz="9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64646"/>
                </a:solidFill>
                <a:latin typeface="Verdana"/>
                <a:cs typeface="Verdana"/>
              </a:rPr>
              <a:t>create</a:t>
            </a:r>
            <a:r>
              <a:rPr sz="90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900" spc="-40" dirty="0">
                <a:solidFill>
                  <a:srgbClr val="464646"/>
                </a:solidFill>
                <a:latin typeface="Verdana"/>
                <a:cs typeface="Verdana"/>
              </a:rPr>
              <a:t>enormous </a:t>
            </a:r>
            <a:r>
              <a:rPr sz="900" spc="-10" dirty="0">
                <a:solidFill>
                  <a:srgbClr val="464646"/>
                </a:solidFill>
                <a:latin typeface="Verdana"/>
                <a:cs typeface="Verdana"/>
              </a:rPr>
              <a:t>combinations.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976361" y="4849113"/>
            <a:ext cx="1174115" cy="292100"/>
            <a:chOff x="7976361" y="4849113"/>
            <a:chExt cx="1174115" cy="292100"/>
          </a:xfrm>
        </p:grpSpPr>
        <p:sp>
          <p:nvSpPr>
            <p:cNvPr id="3" name="object 3"/>
            <p:cNvSpPr/>
            <p:nvPr/>
          </p:nvSpPr>
          <p:spPr>
            <a:xfrm>
              <a:off x="7982711" y="4855463"/>
              <a:ext cx="1161415" cy="279400"/>
            </a:xfrm>
            <a:custGeom>
              <a:avLst/>
              <a:gdLst/>
              <a:ahLst/>
              <a:cxnLst/>
              <a:rect l="l" t="t" r="r" b="b"/>
              <a:pathLst>
                <a:path w="1161415" h="279400">
                  <a:moveTo>
                    <a:pt x="1161288" y="0"/>
                  </a:moveTo>
                  <a:lnTo>
                    <a:pt x="0" y="0"/>
                  </a:lnTo>
                  <a:lnTo>
                    <a:pt x="0" y="278891"/>
                  </a:lnTo>
                  <a:lnTo>
                    <a:pt x="1161288" y="278891"/>
                  </a:lnTo>
                  <a:lnTo>
                    <a:pt x="1161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82711" y="4855463"/>
              <a:ext cx="1161415" cy="279400"/>
            </a:xfrm>
            <a:custGeom>
              <a:avLst/>
              <a:gdLst/>
              <a:ahLst/>
              <a:cxnLst/>
              <a:rect l="l" t="t" r="r" b="b"/>
              <a:pathLst>
                <a:path w="1161415" h="279400">
                  <a:moveTo>
                    <a:pt x="0" y="278891"/>
                  </a:moveTo>
                  <a:lnTo>
                    <a:pt x="1161288" y="278891"/>
                  </a:lnTo>
                  <a:lnTo>
                    <a:pt x="1161288" y="0"/>
                  </a:lnTo>
                  <a:lnTo>
                    <a:pt x="0" y="0"/>
                  </a:lnTo>
                  <a:lnTo>
                    <a:pt x="0" y="27889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83514" y="382981"/>
            <a:ext cx="220599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dirty="0"/>
              <a:t>Comparison</a:t>
            </a:r>
            <a:r>
              <a:rPr sz="1550" spc="-30" dirty="0"/>
              <a:t> </a:t>
            </a:r>
            <a:r>
              <a:rPr sz="1550" dirty="0"/>
              <a:t>of</a:t>
            </a:r>
            <a:r>
              <a:rPr sz="1550" spc="-65" dirty="0"/>
              <a:t> </a:t>
            </a:r>
            <a:r>
              <a:rPr sz="1550" spc="-10" dirty="0"/>
              <a:t>Ciphers</a:t>
            </a:r>
            <a:endParaRPr sz="1550"/>
          </a:p>
        </p:txBody>
      </p:sp>
      <p:sp>
        <p:nvSpPr>
          <p:cNvPr id="6" name="object 6"/>
          <p:cNvSpPr txBox="1"/>
          <p:nvPr/>
        </p:nvSpPr>
        <p:spPr>
          <a:xfrm>
            <a:off x="483514" y="729741"/>
            <a:ext cx="47656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Each</a:t>
            </a:r>
            <a:r>
              <a:rPr sz="600" spc="-2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cipher</a:t>
            </a:r>
            <a:r>
              <a:rPr sz="600" spc="-1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represents</a:t>
            </a:r>
            <a:r>
              <a:rPr sz="600" spc="1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35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6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leap in</a:t>
            </a:r>
            <a:r>
              <a:rPr sz="6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cryptographic</a:t>
            </a:r>
            <a:r>
              <a:rPr sz="600" spc="1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strength</a:t>
            </a:r>
            <a:r>
              <a:rPr sz="600" spc="-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dirty="0">
                <a:solidFill>
                  <a:srgbClr val="464646"/>
                </a:solidFill>
                <a:latin typeface="Verdana"/>
                <a:cs typeface="Verdana"/>
              </a:rPr>
              <a:t>—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30" dirty="0">
                <a:solidFill>
                  <a:srgbClr val="464646"/>
                </a:solidFill>
                <a:latin typeface="Verdana"/>
                <a:cs typeface="Verdana"/>
              </a:rPr>
              <a:t>more</a:t>
            </a:r>
            <a:r>
              <a:rPr sz="600" spc="-1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complex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keys,</a:t>
            </a:r>
            <a:r>
              <a:rPr sz="600" spc="-2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larger</a:t>
            </a:r>
            <a:r>
              <a:rPr sz="600" spc="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key</a:t>
            </a:r>
            <a:r>
              <a:rPr sz="600" spc="-2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spaces,</a:t>
            </a:r>
            <a:r>
              <a:rPr sz="600" spc="-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5" dirty="0">
                <a:solidFill>
                  <a:srgbClr val="464646"/>
                </a:solidFill>
                <a:latin typeface="Verdana"/>
                <a:cs typeface="Verdana"/>
              </a:rPr>
              <a:t>and </a:t>
            </a:r>
            <a:r>
              <a:rPr sz="600" spc="-30" dirty="0">
                <a:solidFill>
                  <a:srgbClr val="464646"/>
                </a:solidFill>
                <a:latin typeface="Verdana"/>
                <a:cs typeface="Verdana"/>
              </a:rPr>
              <a:t>better</a:t>
            </a:r>
            <a:r>
              <a:rPr sz="600" spc="-2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resistance</a:t>
            </a:r>
            <a:r>
              <a:rPr sz="600" spc="-1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5" dirty="0">
                <a:solidFill>
                  <a:srgbClr val="464646"/>
                </a:solidFill>
                <a:latin typeface="Verdana"/>
                <a:cs typeface="Verdana"/>
              </a:rPr>
              <a:t>to</a:t>
            </a:r>
            <a:r>
              <a:rPr sz="60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attack.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586" y="898397"/>
            <a:ext cx="8150859" cy="986155"/>
          </a:xfrm>
          <a:custGeom>
            <a:avLst/>
            <a:gdLst/>
            <a:ahLst/>
            <a:cxnLst/>
            <a:rect l="l" t="t" r="r" b="b"/>
            <a:pathLst>
              <a:path w="8150859" h="986155">
                <a:moveTo>
                  <a:pt x="0" y="11937"/>
                </a:moveTo>
                <a:lnTo>
                  <a:pt x="0" y="5334"/>
                </a:lnTo>
                <a:lnTo>
                  <a:pt x="5346" y="0"/>
                </a:lnTo>
                <a:lnTo>
                  <a:pt x="11950" y="0"/>
                </a:lnTo>
                <a:lnTo>
                  <a:pt x="8138414" y="0"/>
                </a:lnTo>
                <a:lnTo>
                  <a:pt x="8145018" y="0"/>
                </a:lnTo>
                <a:lnTo>
                  <a:pt x="8150352" y="5334"/>
                </a:lnTo>
                <a:lnTo>
                  <a:pt x="8150352" y="11937"/>
                </a:lnTo>
                <a:lnTo>
                  <a:pt x="8150352" y="974089"/>
                </a:lnTo>
                <a:lnTo>
                  <a:pt x="8150352" y="980693"/>
                </a:lnTo>
                <a:lnTo>
                  <a:pt x="8145018" y="986027"/>
                </a:lnTo>
                <a:lnTo>
                  <a:pt x="8138414" y="986027"/>
                </a:lnTo>
                <a:lnTo>
                  <a:pt x="11950" y="986027"/>
                </a:lnTo>
                <a:lnTo>
                  <a:pt x="5346" y="986027"/>
                </a:lnTo>
                <a:lnTo>
                  <a:pt x="0" y="980693"/>
                </a:lnTo>
                <a:lnTo>
                  <a:pt x="0" y="974089"/>
                </a:lnTo>
                <a:lnTo>
                  <a:pt x="0" y="11937"/>
                </a:lnTo>
                <a:close/>
              </a:path>
            </a:pathLst>
          </a:custGeom>
          <a:ln w="4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97586" y="898397"/>
          <a:ext cx="8227059" cy="983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2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37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b="1" spc="-1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Feature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b="1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Caesar</a:t>
                      </a:r>
                      <a:r>
                        <a:rPr sz="600" b="1" spc="-3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Cipher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b="1" spc="-1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Monoalphabetic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645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b="1" spc="-1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Vigenère</a:t>
                      </a:r>
                      <a:r>
                        <a:rPr sz="600" b="1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464646"/>
                          </a:solidFill>
                          <a:latin typeface="Tahoma"/>
                          <a:cs typeface="Tahoma"/>
                        </a:rPr>
                        <a:t>Cipher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Key</a:t>
                      </a:r>
                      <a:r>
                        <a:rPr sz="600" spc="-4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Type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Fixed</a:t>
                      </a:r>
                      <a:r>
                        <a:rPr sz="600" spc="-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Shift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2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Substitution</a:t>
                      </a:r>
                      <a:r>
                        <a:rPr sz="600" spc="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Table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57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Keyword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Complexity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2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Low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Medium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6457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High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Security</a:t>
                      </a:r>
                      <a:r>
                        <a:rPr sz="60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Level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2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Low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Moderate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57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00" spc="-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High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667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Frequency</a:t>
                      </a:r>
                      <a:r>
                        <a:rPr sz="600" spc="-3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Poor</a:t>
                      </a:r>
                      <a:r>
                        <a:rPr sz="600" spc="-5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resistance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Poor</a:t>
                      </a:r>
                      <a:r>
                        <a:rPr sz="600" spc="-5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resistance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645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3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Better</a:t>
                      </a:r>
                      <a:r>
                        <a:rPr sz="60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resistance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Key</a:t>
                      </a:r>
                      <a:r>
                        <a:rPr sz="600" spc="-4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Space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794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810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3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25</a:t>
                      </a:r>
                      <a:r>
                        <a:rPr sz="600" spc="-4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2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keys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794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3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26! </a:t>
                      </a:r>
                      <a:r>
                        <a:rPr sz="600" spc="-9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≈</a:t>
                      </a:r>
                      <a:r>
                        <a:rPr sz="600" spc="-45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4×10²⁶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794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5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Very</a:t>
                      </a:r>
                      <a:r>
                        <a:rPr sz="600" spc="-4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600" spc="-10" dirty="0">
                          <a:solidFill>
                            <a:srgbClr val="464646"/>
                          </a:solidFill>
                          <a:latin typeface="Verdana"/>
                          <a:cs typeface="Verdana"/>
                        </a:rPr>
                        <a:t>Large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7940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object 9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40" y="2072797"/>
            <a:ext cx="7046918" cy="237102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36369" y="2308352"/>
            <a:ext cx="1248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Caesar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Cipher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6369" y="3115437"/>
            <a:ext cx="14268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Monoalphabetic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6369" y="3914647"/>
            <a:ext cx="14141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Vigenère</a:t>
            </a:r>
            <a:r>
              <a:rPr sz="14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Cipher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3514" y="4619650"/>
            <a:ext cx="368427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Security improved</a:t>
            </a:r>
            <a:r>
              <a:rPr sz="600" spc="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40" dirty="0">
                <a:solidFill>
                  <a:srgbClr val="464646"/>
                </a:solidFill>
                <a:latin typeface="Verdana"/>
                <a:cs typeface="Verdana"/>
              </a:rPr>
              <a:t>at</a:t>
            </a:r>
            <a:r>
              <a:rPr sz="60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each</a:t>
            </a:r>
            <a:r>
              <a:rPr sz="600" spc="-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stage</a:t>
            </a:r>
            <a:r>
              <a:rPr sz="600" spc="-2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by</a:t>
            </a:r>
            <a:r>
              <a:rPr sz="60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increasing</a:t>
            </a:r>
            <a:r>
              <a:rPr sz="600" spc="-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key complexity </a:t>
            </a:r>
            <a:r>
              <a:rPr sz="600" spc="-25" dirty="0">
                <a:solidFill>
                  <a:srgbClr val="464646"/>
                </a:solidFill>
                <a:latin typeface="Verdana"/>
                <a:cs typeface="Verdana"/>
              </a:rPr>
              <a:t>and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reducing</a:t>
            </a:r>
            <a:r>
              <a:rPr sz="600" spc="-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20" dirty="0">
                <a:solidFill>
                  <a:srgbClr val="464646"/>
                </a:solidFill>
                <a:latin typeface="Verdana"/>
                <a:cs typeface="Verdana"/>
              </a:rPr>
              <a:t>statistical</a:t>
            </a:r>
            <a:r>
              <a:rPr sz="60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600" spc="-10" dirty="0">
                <a:solidFill>
                  <a:srgbClr val="464646"/>
                </a:solidFill>
                <a:latin typeface="Verdana"/>
                <a:cs typeface="Verdana"/>
              </a:rPr>
              <a:t>predictability.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976361" y="4849113"/>
            <a:ext cx="1174115" cy="292100"/>
            <a:chOff x="7976361" y="4849113"/>
            <a:chExt cx="1174115" cy="292100"/>
          </a:xfrm>
        </p:grpSpPr>
        <p:sp>
          <p:nvSpPr>
            <p:cNvPr id="3" name="object 3"/>
            <p:cNvSpPr/>
            <p:nvPr/>
          </p:nvSpPr>
          <p:spPr>
            <a:xfrm>
              <a:off x="7982711" y="4855463"/>
              <a:ext cx="1161415" cy="279400"/>
            </a:xfrm>
            <a:custGeom>
              <a:avLst/>
              <a:gdLst/>
              <a:ahLst/>
              <a:cxnLst/>
              <a:rect l="l" t="t" r="r" b="b"/>
              <a:pathLst>
                <a:path w="1161415" h="279400">
                  <a:moveTo>
                    <a:pt x="1161288" y="0"/>
                  </a:moveTo>
                  <a:lnTo>
                    <a:pt x="0" y="0"/>
                  </a:lnTo>
                  <a:lnTo>
                    <a:pt x="0" y="278891"/>
                  </a:lnTo>
                  <a:lnTo>
                    <a:pt x="1161288" y="278891"/>
                  </a:lnTo>
                  <a:lnTo>
                    <a:pt x="1161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82711" y="4855463"/>
              <a:ext cx="1161415" cy="279400"/>
            </a:xfrm>
            <a:custGeom>
              <a:avLst/>
              <a:gdLst/>
              <a:ahLst/>
              <a:cxnLst/>
              <a:rect l="l" t="t" r="r" b="b"/>
              <a:pathLst>
                <a:path w="1161415" h="279400">
                  <a:moveTo>
                    <a:pt x="0" y="278891"/>
                  </a:moveTo>
                  <a:lnTo>
                    <a:pt x="1161288" y="278891"/>
                  </a:lnTo>
                  <a:lnTo>
                    <a:pt x="1161288" y="0"/>
                  </a:lnTo>
                  <a:lnTo>
                    <a:pt x="0" y="0"/>
                  </a:lnTo>
                  <a:lnTo>
                    <a:pt x="0" y="27889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607"/>
            <a:ext cx="3428999" cy="49421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Conclusion</a:t>
            </a:r>
            <a:r>
              <a:rPr spc="-95" dirty="0"/>
              <a:t> </a:t>
            </a:r>
            <a:r>
              <a:rPr spc="90" dirty="0"/>
              <a:t>&amp;</a:t>
            </a:r>
            <a:r>
              <a:rPr spc="-65" dirty="0"/>
              <a:t> </a:t>
            </a:r>
            <a:r>
              <a:rPr dirty="0"/>
              <a:t>Key</a:t>
            </a:r>
            <a:r>
              <a:rPr spc="-95" dirty="0"/>
              <a:t> </a:t>
            </a:r>
            <a:r>
              <a:rPr spc="-10" dirty="0"/>
              <a:t>Takeaways</a:t>
            </a:r>
          </a:p>
        </p:txBody>
      </p:sp>
      <p:sp>
        <p:nvSpPr>
          <p:cNvPr id="4" name="object 4"/>
          <p:cNvSpPr/>
          <p:nvPr/>
        </p:nvSpPr>
        <p:spPr>
          <a:xfrm>
            <a:off x="3925823" y="1053083"/>
            <a:ext cx="4721860" cy="13970"/>
          </a:xfrm>
          <a:custGeom>
            <a:avLst/>
            <a:gdLst/>
            <a:ahLst/>
            <a:cxnLst/>
            <a:rect l="l" t="t" r="r" b="b"/>
            <a:pathLst>
              <a:path w="4721859" h="13969">
                <a:moveTo>
                  <a:pt x="4721352" y="0"/>
                </a:moveTo>
                <a:lnTo>
                  <a:pt x="0" y="0"/>
                </a:lnTo>
                <a:lnTo>
                  <a:pt x="0" y="13715"/>
                </a:lnTo>
                <a:lnTo>
                  <a:pt x="4721352" y="13715"/>
                </a:lnTo>
                <a:lnTo>
                  <a:pt x="4721352" y="0"/>
                </a:lnTo>
                <a:close/>
              </a:path>
            </a:pathLst>
          </a:custGeom>
          <a:solidFill>
            <a:srgbClr val="1C9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5823" y="1842516"/>
            <a:ext cx="4721860" cy="13970"/>
          </a:xfrm>
          <a:custGeom>
            <a:avLst/>
            <a:gdLst/>
            <a:ahLst/>
            <a:cxnLst/>
            <a:rect l="l" t="t" r="r" b="b"/>
            <a:pathLst>
              <a:path w="4721859" h="13969">
                <a:moveTo>
                  <a:pt x="4721352" y="0"/>
                </a:moveTo>
                <a:lnTo>
                  <a:pt x="0" y="0"/>
                </a:lnTo>
                <a:lnTo>
                  <a:pt x="0" y="13715"/>
                </a:lnTo>
                <a:lnTo>
                  <a:pt x="4721352" y="13715"/>
                </a:lnTo>
                <a:lnTo>
                  <a:pt x="4721352" y="0"/>
                </a:lnTo>
                <a:close/>
              </a:path>
            </a:pathLst>
          </a:custGeom>
          <a:solidFill>
            <a:srgbClr val="1C9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25823" y="2785872"/>
            <a:ext cx="4721860" cy="13970"/>
          </a:xfrm>
          <a:custGeom>
            <a:avLst/>
            <a:gdLst/>
            <a:ahLst/>
            <a:cxnLst/>
            <a:rect l="l" t="t" r="r" b="b"/>
            <a:pathLst>
              <a:path w="4721859" h="13969">
                <a:moveTo>
                  <a:pt x="4721352" y="0"/>
                </a:moveTo>
                <a:lnTo>
                  <a:pt x="0" y="0"/>
                </a:lnTo>
                <a:lnTo>
                  <a:pt x="0" y="13716"/>
                </a:lnTo>
                <a:lnTo>
                  <a:pt x="4721352" y="13716"/>
                </a:lnTo>
                <a:lnTo>
                  <a:pt x="4721352" y="0"/>
                </a:lnTo>
                <a:close/>
              </a:path>
            </a:pathLst>
          </a:custGeom>
          <a:solidFill>
            <a:srgbClr val="1C9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25823" y="3575303"/>
            <a:ext cx="4721860" cy="15240"/>
          </a:xfrm>
          <a:custGeom>
            <a:avLst/>
            <a:gdLst/>
            <a:ahLst/>
            <a:cxnLst/>
            <a:rect l="l" t="t" r="r" b="b"/>
            <a:pathLst>
              <a:path w="4721859" h="15239">
                <a:moveTo>
                  <a:pt x="4721352" y="0"/>
                </a:moveTo>
                <a:lnTo>
                  <a:pt x="0" y="0"/>
                </a:lnTo>
                <a:lnTo>
                  <a:pt x="0" y="15240"/>
                </a:lnTo>
                <a:lnTo>
                  <a:pt x="4721352" y="15240"/>
                </a:lnTo>
                <a:lnTo>
                  <a:pt x="4721352" y="0"/>
                </a:lnTo>
                <a:close/>
              </a:path>
            </a:pathLst>
          </a:custGeom>
          <a:solidFill>
            <a:srgbClr val="1C96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925823" y="4206240"/>
            <a:ext cx="4721860" cy="518159"/>
            <a:chOff x="3925823" y="4206240"/>
            <a:chExt cx="4721860" cy="518159"/>
          </a:xfrm>
        </p:grpSpPr>
        <p:sp>
          <p:nvSpPr>
            <p:cNvPr id="9" name="object 9"/>
            <p:cNvSpPr/>
            <p:nvPr/>
          </p:nvSpPr>
          <p:spPr>
            <a:xfrm>
              <a:off x="3925823" y="4206240"/>
              <a:ext cx="4721860" cy="518159"/>
            </a:xfrm>
            <a:custGeom>
              <a:avLst/>
              <a:gdLst/>
              <a:ahLst/>
              <a:cxnLst/>
              <a:rect l="l" t="t" r="r" b="b"/>
              <a:pathLst>
                <a:path w="4721859" h="518160">
                  <a:moveTo>
                    <a:pt x="4714112" y="0"/>
                  </a:moveTo>
                  <a:lnTo>
                    <a:pt x="7238" y="0"/>
                  </a:lnTo>
                  <a:lnTo>
                    <a:pt x="0" y="7277"/>
                  </a:lnTo>
                  <a:lnTo>
                    <a:pt x="0" y="16268"/>
                  </a:lnTo>
                  <a:lnTo>
                    <a:pt x="0" y="510882"/>
                  </a:lnTo>
                  <a:lnTo>
                    <a:pt x="7238" y="518160"/>
                  </a:lnTo>
                  <a:lnTo>
                    <a:pt x="4714112" y="518160"/>
                  </a:lnTo>
                  <a:lnTo>
                    <a:pt x="4721352" y="510882"/>
                  </a:lnTo>
                  <a:lnTo>
                    <a:pt x="4721352" y="7277"/>
                  </a:lnTo>
                  <a:lnTo>
                    <a:pt x="4714112" y="0"/>
                  </a:lnTo>
                  <a:close/>
                </a:path>
              </a:pathLst>
            </a:custGeom>
            <a:solidFill>
              <a:srgbClr val="D3F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4027" y="4351020"/>
              <a:ext cx="135636" cy="10972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913123" y="863549"/>
            <a:ext cx="4588510" cy="3756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25" dirty="0">
                <a:solidFill>
                  <a:srgbClr val="464646"/>
                </a:solidFill>
                <a:latin typeface="Arial MT"/>
                <a:cs typeface="Arial MT"/>
              </a:rPr>
              <a:t>01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050" b="1" dirty="0">
                <a:solidFill>
                  <a:srgbClr val="464646"/>
                </a:solidFill>
                <a:latin typeface="Arial"/>
                <a:cs typeface="Arial"/>
              </a:rPr>
              <a:t>Caesar</a:t>
            </a:r>
            <a:r>
              <a:rPr sz="1050" b="1" spc="-4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464646"/>
                </a:solidFill>
                <a:latin typeface="Arial"/>
                <a:cs typeface="Arial"/>
              </a:rPr>
              <a:t>Cipher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850" spc="-35" dirty="0">
                <a:solidFill>
                  <a:srgbClr val="464646"/>
                </a:solidFill>
                <a:latin typeface="Verdana"/>
                <a:cs typeface="Verdana"/>
              </a:rPr>
              <a:t>Introduced</a:t>
            </a:r>
            <a:r>
              <a:rPr sz="85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substitution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464646"/>
                </a:solidFill>
                <a:latin typeface="Verdana"/>
                <a:cs typeface="Verdana"/>
              </a:rPr>
              <a:t>encryption</a:t>
            </a:r>
            <a:r>
              <a:rPr sz="85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with</a:t>
            </a:r>
            <a:r>
              <a:rPr sz="85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464646"/>
                </a:solidFill>
                <a:latin typeface="Verdana"/>
                <a:cs typeface="Verdana"/>
              </a:rPr>
              <a:t>fixed</a:t>
            </a:r>
            <a:r>
              <a:rPr sz="85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464646"/>
                </a:solidFill>
                <a:latin typeface="Verdana"/>
                <a:cs typeface="Verdana"/>
              </a:rPr>
              <a:t>shift</a:t>
            </a:r>
            <a:r>
              <a:rPr sz="850" spc="-2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464646"/>
                </a:solidFill>
                <a:latin typeface="Verdana"/>
                <a:cs typeface="Verdana"/>
              </a:rPr>
              <a:t>—</a:t>
            </a:r>
            <a:r>
              <a:rPr sz="85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simple</a:t>
            </a:r>
            <a:r>
              <a:rPr sz="850" spc="-35" dirty="0">
                <a:solidFill>
                  <a:srgbClr val="464646"/>
                </a:solidFill>
                <a:latin typeface="Verdana"/>
                <a:cs typeface="Verdana"/>
              </a:rPr>
              <a:t> but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464646"/>
                </a:solidFill>
                <a:latin typeface="Verdana"/>
                <a:cs typeface="Verdana"/>
              </a:rPr>
              <a:t>historically</a:t>
            </a:r>
            <a:r>
              <a:rPr sz="85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significant.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850" spc="25" dirty="0">
                <a:solidFill>
                  <a:srgbClr val="464646"/>
                </a:solidFill>
                <a:latin typeface="Arial MT"/>
                <a:cs typeface="Arial MT"/>
              </a:rPr>
              <a:t>02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050" b="1" spc="10" dirty="0">
                <a:solidFill>
                  <a:srgbClr val="464646"/>
                </a:solidFill>
                <a:latin typeface="Arial"/>
                <a:cs typeface="Arial"/>
              </a:rPr>
              <a:t>Monoalphabetic</a:t>
            </a:r>
            <a:r>
              <a:rPr sz="1050" b="1" spc="1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464646"/>
                </a:solidFill>
                <a:latin typeface="Arial"/>
                <a:cs typeface="Arial"/>
              </a:rPr>
              <a:t>Cipher</a:t>
            </a:r>
            <a:endParaRPr sz="1050">
              <a:latin typeface="Arial"/>
              <a:cs typeface="Arial"/>
            </a:endParaRPr>
          </a:p>
          <a:p>
            <a:pPr marL="12700" marR="351790">
              <a:lnSpc>
                <a:spcPct val="118800"/>
              </a:lnSpc>
              <a:spcBef>
                <a:spcPts val="395"/>
              </a:spcBef>
            </a:pPr>
            <a:r>
              <a:rPr sz="850" spc="-25" dirty="0">
                <a:solidFill>
                  <a:srgbClr val="464646"/>
                </a:solidFill>
                <a:latin typeface="Verdana"/>
                <a:cs typeface="Verdana"/>
              </a:rPr>
              <a:t>Expanded</a:t>
            </a:r>
            <a:r>
              <a:rPr sz="85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464646"/>
                </a:solidFill>
                <a:latin typeface="Verdana"/>
                <a:cs typeface="Verdana"/>
              </a:rPr>
              <a:t>key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complexity</a:t>
            </a:r>
            <a:r>
              <a:rPr sz="850" spc="-8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with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unique</a:t>
            </a:r>
            <a:r>
              <a:rPr sz="85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letter</a:t>
            </a:r>
            <a:r>
              <a:rPr sz="85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mappings,</a:t>
            </a:r>
            <a:r>
              <a:rPr sz="85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though</a:t>
            </a:r>
            <a:r>
              <a:rPr sz="85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frequency</a:t>
            </a:r>
            <a:r>
              <a:rPr sz="850" spc="-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analysis 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remained</a:t>
            </a:r>
            <a:r>
              <a:rPr sz="850" spc="-5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threat.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850" spc="30" dirty="0">
                <a:solidFill>
                  <a:srgbClr val="464646"/>
                </a:solidFill>
                <a:latin typeface="Arial MT"/>
                <a:cs typeface="Arial MT"/>
              </a:rPr>
              <a:t>03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050" b="1" dirty="0">
                <a:solidFill>
                  <a:srgbClr val="464646"/>
                </a:solidFill>
                <a:latin typeface="Arial"/>
                <a:cs typeface="Arial"/>
              </a:rPr>
              <a:t>Vigenère</a:t>
            </a:r>
            <a:r>
              <a:rPr sz="1050" b="1" spc="3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464646"/>
                </a:solidFill>
                <a:latin typeface="Arial"/>
                <a:cs typeface="Arial"/>
              </a:rPr>
              <a:t>Cipher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850" spc="-35" dirty="0">
                <a:solidFill>
                  <a:srgbClr val="464646"/>
                </a:solidFill>
                <a:latin typeface="Verdana"/>
                <a:cs typeface="Verdana"/>
              </a:rPr>
              <a:t>Introduced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464646"/>
                </a:solidFill>
                <a:latin typeface="Verdana"/>
                <a:cs typeface="Verdana"/>
              </a:rPr>
              <a:t>polyalphabetic</a:t>
            </a:r>
            <a:r>
              <a:rPr sz="85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substitution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via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a</a:t>
            </a:r>
            <a:r>
              <a:rPr sz="8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keyword,</a:t>
            </a:r>
            <a:r>
              <a:rPr sz="850" spc="-4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464646"/>
                </a:solidFill>
                <a:latin typeface="Verdana"/>
                <a:cs typeface="Verdana"/>
              </a:rPr>
              <a:t>resisting</a:t>
            </a:r>
            <a:r>
              <a:rPr sz="85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simple </a:t>
            </a:r>
            <a:r>
              <a:rPr sz="850" spc="-25" dirty="0">
                <a:solidFill>
                  <a:srgbClr val="464646"/>
                </a:solidFill>
                <a:latin typeface="Verdana"/>
                <a:cs typeface="Verdana"/>
              </a:rPr>
              <a:t>statistical</a:t>
            </a:r>
            <a:r>
              <a:rPr sz="850" spc="1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attacks.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850" spc="35" dirty="0">
                <a:solidFill>
                  <a:srgbClr val="464646"/>
                </a:solidFill>
                <a:latin typeface="Arial MT"/>
                <a:cs typeface="Arial MT"/>
              </a:rPr>
              <a:t>04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050" b="1" dirty="0">
                <a:solidFill>
                  <a:srgbClr val="464646"/>
                </a:solidFill>
                <a:latin typeface="Arial"/>
                <a:cs typeface="Arial"/>
              </a:rPr>
              <a:t>Foundation</a:t>
            </a:r>
            <a:r>
              <a:rPr sz="1050" b="1" spc="-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464646"/>
                </a:solidFill>
                <a:latin typeface="Arial"/>
                <a:cs typeface="Arial"/>
              </a:rPr>
              <a:t>for</a:t>
            </a:r>
            <a:r>
              <a:rPr sz="1050" b="1" spc="2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464646"/>
                </a:solidFill>
                <a:latin typeface="Arial"/>
                <a:cs typeface="Arial"/>
              </a:rPr>
              <a:t>Modern</a:t>
            </a:r>
            <a:r>
              <a:rPr sz="1050" b="1" spc="-1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464646"/>
                </a:solidFill>
                <a:latin typeface="Arial"/>
                <a:cs typeface="Arial"/>
              </a:rPr>
              <a:t>Crypto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These</a:t>
            </a:r>
            <a:r>
              <a:rPr sz="850" spc="-2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ciphers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464646"/>
                </a:solidFill>
                <a:latin typeface="Verdana"/>
                <a:cs typeface="Verdana"/>
              </a:rPr>
              <a:t>established </a:t>
            </a:r>
            <a:r>
              <a:rPr sz="850" spc="-20" dirty="0">
                <a:solidFill>
                  <a:srgbClr val="464646"/>
                </a:solidFill>
                <a:latin typeface="Verdana"/>
                <a:cs typeface="Verdana"/>
              </a:rPr>
              <a:t>principles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50" dirty="0">
                <a:solidFill>
                  <a:srgbClr val="464646"/>
                </a:solidFill>
                <a:latin typeface="Verdana"/>
                <a:cs typeface="Verdana"/>
              </a:rPr>
              <a:t>that</a:t>
            </a:r>
            <a:r>
              <a:rPr sz="850" spc="-2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464646"/>
                </a:solidFill>
                <a:latin typeface="Verdana"/>
                <a:cs typeface="Verdana"/>
              </a:rPr>
              <a:t>underpin</a:t>
            </a:r>
            <a:r>
              <a:rPr sz="850" spc="-35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today's </a:t>
            </a:r>
            <a:r>
              <a:rPr sz="850" spc="-20" dirty="0">
                <a:solidFill>
                  <a:srgbClr val="464646"/>
                </a:solidFill>
                <a:latin typeface="Verdana"/>
                <a:cs typeface="Verdana"/>
              </a:rPr>
              <a:t>cryptographic</a:t>
            </a:r>
            <a:r>
              <a:rPr sz="850" spc="-40" dirty="0">
                <a:solidFill>
                  <a:srgbClr val="464646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464646"/>
                </a:solidFill>
                <a:latin typeface="Verdana"/>
                <a:cs typeface="Verdana"/>
              </a:rPr>
              <a:t>systems.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850">
              <a:latin typeface="Verdana"/>
              <a:cs typeface="Verdana"/>
            </a:endParaRPr>
          </a:p>
          <a:p>
            <a:pPr marL="365125">
              <a:lnSpc>
                <a:spcPct val="100000"/>
              </a:lnSpc>
            </a:pPr>
            <a:r>
              <a:rPr sz="850" b="1" dirty="0">
                <a:latin typeface="Tahoma"/>
                <a:cs typeface="Tahoma"/>
              </a:rPr>
              <a:t>Key</a:t>
            </a:r>
            <a:r>
              <a:rPr sz="850" b="1" spc="5" dirty="0">
                <a:latin typeface="Tahoma"/>
                <a:cs typeface="Tahoma"/>
              </a:rPr>
              <a:t> </a:t>
            </a:r>
            <a:r>
              <a:rPr sz="850" b="1" spc="-10" dirty="0">
                <a:latin typeface="Tahoma"/>
                <a:cs typeface="Tahoma"/>
              </a:rPr>
              <a:t>Takeaway:</a:t>
            </a:r>
            <a:r>
              <a:rPr sz="850" b="1" spc="30" dirty="0">
                <a:latin typeface="Tahoma"/>
                <a:cs typeface="Tahoma"/>
              </a:rPr>
              <a:t> </a:t>
            </a:r>
            <a:r>
              <a:rPr sz="850" dirty="0">
                <a:latin typeface="Verdana"/>
                <a:cs typeface="Verdana"/>
              </a:rPr>
              <a:t>As</a:t>
            </a:r>
            <a:r>
              <a:rPr sz="850" spc="-15" dirty="0">
                <a:latin typeface="Verdana"/>
                <a:cs typeface="Verdana"/>
              </a:rPr>
              <a:t> </a:t>
            </a:r>
            <a:r>
              <a:rPr sz="850" spc="-20" dirty="0">
                <a:latin typeface="Verdana"/>
                <a:cs typeface="Verdana"/>
              </a:rPr>
              <a:t>cryptographic</a:t>
            </a:r>
            <a:r>
              <a:rPr sz="850" spc="-40" dirty="0">
                <a:latin typeface="Verdana"/>
                <a:cs typeface="Verdana"/>
              </a:rPr>
              <a:t> </a:t>
            </a:r>
            <a:r>
              <a:rPr sz="850" spc="-20" dirty="0">
                <a:latin typeface="Verdana"/>
                <a:cs typeface="Verdana"/>
              </a:rPr>
              <a:t>techniques</a:t>
            </a:r>
            <a:r>
              <a:rPr sz="850" spc="-50" dirty="0">
                <a:latin typeface="Verdana"/>
                <a:cs typeface="Verdana"/>
              </a:rPr>
              <a:t> </a:t>
            </a:r>
            <a:r>
              <a:rPr sz="850" spc="-25" dirty="0">
                <a:latin typeface="Verdana"/>
                <a:cs typeface="Verdana"/>
              </a:rPr>
              <a:t>evolved,</a:t>
            </a:r>
            <a:r>
              <a:rPr sz="850" spc="-50" dirty="0">
                <a:latin typeface="Verdana"/>
                <a:cs typeface="Verdana"/>
              </a:rPr>
              <a:t> </a:t>
            </a:r>
            <a:r>
              <a:rPr sz="850" spc="-20" dirty="0">
                <a:latin typeface="Verdana"/>
                <a:cs typeface="Verdana"/>
              </a:rPr>
              <a:t>security</a:t>
            </a:r>
            <a:r>
              <a:rPr sz="850" spc="-30" dirty="0">
                <a:latin typeface="Verdana"/>
                <a:cs typeface="Verdana"/>
              </a:rPr>
              <a:t> improved</a:t>
            </a:r>
            <a:r>
              <a:rPr sz="850" spc="-60" dirty="0">
                <a:latin typeface="Verdana"/>
                <a:cs typeface="Verdana"/>
              </a:rPr>
              <a:t> </a:t>
            </a:r>
            <a:r>
              <a:rPr sz="850" spc="-25" dirty="0">
                <a:latin typeface="Verdana"/>
                <a:cs typeface="Verdana"/>
              </a:rPr>
              <a:t>by</a:t>
            </a:r>
            <a:endParaRPr sz="850">
              <a:latin typeface="Verdana"/>
              <a:cs typeface="Verdana"/>
            </a:endParaRPr>
          </a:p>
          <a:p>
            <a:pPr marL="365125">
              <a:lnSpc>
                <a:spcPct val="100000"/>
              </a:lnSpc>
              <a:spcBef>
                <a:spcPts val="195"/>
              </a:spcBef>
            </a:pPr>
            <a:r>
              <a:rPr sz="850" b="1" spc="-10" dirty="0">
                <a:latin typeface="Tahoma"/>
                <a:cs typeface="Tahoma"/>
              </a:rPr>
              <a:t>increasing</a:t>
            </a:r>
            <a:r>
              <a:rPr sz="850" b="1" spc="-40" dirty="0">
                <a:latin typeface="Tahoma"/>
                <a:cs typeface="Tahoma"/>
              </a:rPr>
              <a:t> </a:t>
            </a:r>
            <a:r>
              <a:rPr sz="850" b="1" dirty="0">
                <a:latin typeface="Tahoma"/>
                <a:cs typeface="Tahoma"/>
              </a:rPr>
              <a:t>key</a:t>
            </a:r>
            <a:r>
              <a:rPr sz="850" b="1" spc="-10" dirty="0">
                <a:latin typeface="Tahoma"/>
                <a:cs typeface="Tahoma"/>
              </a:rPr>
              <a:t> </a:t>
            </a:r>
            <a:r>
              <a:rPr sz="850" b="1" spc="-20" dirty="0">
                <a:latin typeface="Tahoma"/>
                <a:cs typeface="Tahoma"/>
              </a:rPr>
              <a:t>complexity </a:t>
            </a:r>
            <a:r>
              <a:rPr sz="850" spc="-30" dirty="0">
                <a:latin typeface="Verdana"/>
                <a:cs typeface="Verdana"/>
              </a:rPr>
              <a:t>and</a:t>
            </a:r>
            <a:r>
              <a:rPr sz="850" spc="-35" dirty="0">
                <a:latin typeface="Verdana"/>
                <a:cs typeface="Verdana"/>
              </a:rPr>
              <a:t> </a:t>
            </a:r>
            <a:r>
              <a:rPr sz="850" b="1" spc="-10" dirty="0">
                <a:latin typeface="Tahoma"/>
                <a:cs typeface="Tahoma"/>
              </a:rPr>
              <a:t>reducing</a:t>
            </a:r>
            <a:r>
              <a:rPr sz="850" b="1" spc="-25" dirty="0">
                <a:latin typeface="Tahoma"/>
                <a:cs typeface="Tahoma"/>
              </a:rPr>
              <a:t> </a:t>
            </a:r>
            <a:r>
              <a:rPr sz="850" b="1" spc="-10" dirty="0">
                <a:latin typeface="Tahoma"/>
                <a:cs typeface="Tahoma"/>
              </a:rPr>
              <a:t>predictability</a:t>
            </a:r>
            <a:r>
              <a:rPr sz="850" spc="-10" dirty="0">
                <a:latin typeface="Verdana"/>
                <a:cs typeface="Verdana"/>
              </a:rPr>
              <a:t>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76361" y="4849113"/>
            <a:ext cx="1174115" cy="292100"/>
            <a:chOff x="7976361" y="4849113"/>
            <a:chExt cx="1174115" cy="292100"/>
          </a:xfrm>
        </p:grpSpPr>
        <p:sp>
          <p:nvSpPr>
            <p:cNvPr id="13" name="object 13"/>
            <p:cNvSpPr/>
            <p:nvPr/>
          </p:nvSpPr>
          <p:spPr>
            <a:xfrm>
              <a:off x="7982711" y="4855463"/>
              <a:ext cx="1161415" cy="279400"/>
            </a:xfrm>
            <a:custGeom>
              <a:avLst/>
              <a:gdLst/>
              <a:ahLst/>
              <a:cxnLst/>
              <a:rect l="l" t="t" r="r" b="b"/>
              <a:pathLst>
                <a:path w="1161415" h="279400">
                  <a:moveTo>
                    <a:pt x="1161288" y="0"/>
                  </a:moveTo>
                  <a:lnTo>
                    <a:pt x="0" y="0"/>
                  </a:lnTo>
                  <a:lnTo>
                    <a:pt x="0" y="278891"/>
                  </a:lnTo>
                  <a:lnTo>
                    <a:pt x="1161288" y="278891"/>
                  </a:lnTo>
                  <a:lnTo>
                    <a:pt x="1161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82711" y="4855463"/>
              <a:ext cx="1161415" cy="279400"/>
            </a:xfrm>
            <a:custGeom>
              <a:avLst/>
              <a:gdLst/>
              <a:ahLst/>
              <a:cxnLst/>
              <a:rect l="l" t="t" r="r" b="b"/>
              <a:pathLst>
                <a:path w="1161415" h="279400">
                  <a:moveTo>
                    <a:pt x="0" y="278891"/>
                  </a:moveTo>
                  <a:lnTo>
                    <a:pt x="1161288" y="278891"/>
                  </a:lnTo>
                  <a:lnTo>
                    <a:pt x="1161288" y="0"/>
                  </a:lnTo>
                  <a:lnTo>
                    <a:pt x="0" y="0"/>
                  </a:lnTo>
                  <a:lnTo>
                    <a:pt x="0" y="27889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495</Words>
  <Application>Microsoft Office PowerPoint</Application>
  <PresentationFormat>On-screen Show (16:9)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MT</vt:lpstr>
      <vt:lpstr>Calibri</vt:lpstr>
      <vt:lpstr>Consolas</vt:lpstr>
      <vt:lpstr>Tahoma</vt:lpstr>
      <vt:lpstr>Verdana</vt:lpstr>
      <vt:lpstr>Office Theme</vt:lpstr>
      <vt:lpstr>From Caesar to Vigenère: Evolution of Substitution Ciphers</vt:lpstr>
      <vt:lpstr>What Are Substitution Ciphers?</vt:lpstr>
      <vt:lpstr>Caesar Cipher</vt:lpstr>
      <vt:lpstr>Monoalphabetic Cipher</vt:lpstr>
      <vt:lpstr>Vigenère Cipher</vt:lpstr>
      <vt:lpstr>Comparison of Ciphers</vt:lpstr>
      <vt:lpstr>Conclusion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Ch Aravind</cp:lastModifiedBy>
  <cp:revision>1</cp:revision>
  <dcterms:created xsi:type="dcterms:W3CDTF">2026-07-22T05:31:24Z</dcterms:created>
  <dcterms:modified xsi:type="dcterms:W3CDTF">2026-07-22T05:36:31Z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2026-07-20T00:00:00Z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2026-07-22T00:00:00Z</vt:filetime>
  </property>
  <property fmtid="{D5CDD505-2E9C-101B-9397-08002B2CF9AE}" pid="6" name="Producer">
    <vt:lpwstr>Microsoft® PowerPoint® LTSC</vt:lpwstr>
  </property>
</Properties>
</file>